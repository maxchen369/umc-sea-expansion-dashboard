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 relevance</c:v>
                </c:pt>
              </c:strCache>
            </c:strRef>
          </c:tx>
          <c:spPr>
            <a:solidFill>
              <a:srgbClr val="37C7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Noto Sans CJK T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Singapore</c:v>
                  </c:pt>
                  <c:pt idx="1">
                    <c:v>Malaysia</c:v>
                  </c:pt>
                  <c:pt idx="2">
                    <c:v>Thailand</c:v>
                  </c:pt>
                  <c:pt idx="3">
                    <c:v>Vietnam</c:v>
                  </c:pt>
                  <c:pt idx="4">
                    <c:v>Philippines</c:v>
                  </c:pt>
                  <c:pt idx="5">
                    <c:v>Indonesia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68</c:v>
                </c:pt>
                <c:pt idx="2">
                  <c:v>45</c:v>
                </c:pt>
                <c:pt idx="3">
                  <c:v>38</c:v>
                </c:pt>
                <c:pt idx="4">
                  <c:v>30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Noto Sans CJK T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Noto Sans CJK T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4345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0B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B33"/>
        </a:solidFill>
        <a:ln>
          <a:noFill/>
        </a:ln>
        <a:effectLst/>
      </c:spPr>
    </c:plotArea>
    <c:plotVisOnly val="1"/>
    <c:dispBlanksAs val="span"/>
  </c:chart>
  <c:spPr>
    <a:solidFill>
      <a:srgbClr val="0E1B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4572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457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5" name="Shape 3"/>
          <p:cNvSpPr/>
          <p:nvPr/>
        </p:nvSpPr>
        <p:spPr>
          <a:xfrm>
            <a:off x="9235440" y="4572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457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7" name="Shape 5"/>
          <p:cNvSpPr/>
          <p:nvPr/>
        </p:nvSpPr>
        <p:spPr>
          <a:xfrm>
            <a:off x="10149840" y="457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0" y="4572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457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0" y="457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0" y="9144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9144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13" name="Shape 11"/>
          <p:cNvSpPr/>
          <p:nvPr/>
        </p:nvSpPr>
        <p:spPr>
          <a:xfrm>
            <a:off x="8778240" y="9144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14" name="Shape 12"/>
          <p:cNvSpPr/>
          <p:nvPr/>
        </p:nvSpPr>
        <p:spPr>
          <a:xfrm>
            <a:off x="9235440" y="9144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640" y="9144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49840" y="9144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07040" y="9144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64240" y="9144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19" name="Shape 17"/>
          <p:cNvSpPr/>
          <p:nvPr/>
        </p:nvSpPr>
        <p:spPr>
          <a:xfrm>
            <a:off x="11521440" y="9144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0" y="13716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1" name="Shape 19"/>
          <p:cNvSpPr/>
          <p:nvPr/>
        </p:nvSpPr>
        <p:spPr>
          <a:xfrm>
            <a:off x="8321040" y="13716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22" name="Shape 20"/>
          <p:cNvSpPr/>
          <p:nvPr/>
        </p:nvSpPr>
        <p:spPr>
          <a:xfrm>
            <a:off x="8778240" y="13716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23" name="Shape 21"/>
          <p:cNvSpPr/>
          <p:nvPr/>
        </p:nvSpPr>
        <p:spPr>
          <a:xfrm>
            <a:off x="9235440" y="13716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4" name="Shape 22"/>
          <p:cNvSpPr/>
          <p:nvPr/>
        </p:nvSpPr>
        <p:spPr>
          <a:xfrm>
            <a:off x="9692640" y="13716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0149840" y="13716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07040" y="13716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64240" y="13716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1440" y="13716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29" name="Shape 27"/>
          <p:cNvSpPr/>
          <p:nvPr/>
        </p:nvSpPr>
        <p:spPr>
          <a:xfrm>
            <a:off x="7863840" y="18288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1040" y="18288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31" name="Shape 29"/>
          <p:cNvSpPr/>
          <p:nvPr/>
        </p:nvSpPr>
        <p:spPr>
          <a:xfrm>
            <a:off x="8778240" y="18288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32" name="Shape 30"/>
          <p:cNvSpPr/>
          <p:nvPr/>
        </p:nvSpPr>
        <p:spPr>
          <a:xfrm>
            <a:off x="9235440" y="18288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3" name="Shape 31"/>
          <p:cNvSpPr/>
          <p:nvPr/>
        </p:nvSpPr>
        <p:spPr>
          <a:xfrm>
            <a:off x="9692640" y="18288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34" name="Shape 32"/>
          <p:cNvSpPr/>
          <p:nvPr/>
        </p:nvSpPr>
        <p:spPr>
          <a:xfrm>
            <a:off x="10149840" y="18288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35" name="Shape 33"/>
          <p:cNvSpPr/>
          <p:nvPr/>
        </p:nvSpPr>
        <p:spPr>
          <a:xfrm>
            <a:off x="10607040" y="18288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6" name="Shape 34"/>
          <p:cNvSpPr/>
          <p:nvPr/>
        </p:nvSpPr>
        <p:spPr>
          <a:xfrm>
            <a:off x="11064240" y="18288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21440" y="18288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38" name="Shape 36"/>
          <p:cNvSpPr/>
          <p:nvPr/>
        </p:nvSpPr>
        <p:spPr>
          <a:xfrm>
            <a:off x="7863840" y="22860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9" name="Shape 37"/>
          <p:cNvSpPr/>
          <p:nvPr/>
        </p:nvSpPr>
        <p:spPr>
          <a:xfrm>
            <a:off x="8321040" y="22860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0" name="Shape 38"/>
          <p:cNvSpPr/>
          <p:nvPr/>
        </p:nvSpPr>
        <p:spPr>
          <a:xfrm>
            <a:off x="8778240" y="22860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1" name="Shape 39"/>
          <p:cNvSpPr/>
          <p:nvPr/>
        </p:nvSpPr>
        <p:spPr>
          <a:xfrm>
            <a:off x="9235440" y="22860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42" name="Shape 40"/>
          <p:cNvSpPr/>
          <p:nvPr/>
        </p:nvSpPr>
        <p:spPr>
          <a:xfrm>
            <a:off x="9692640" y="22860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49840" y="22860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4" name="Shape 42"/>
          <p:cNvSpPr/>
          <p:nvPr/>
        </p:nvSpPr>
        <p:spPr>
          <a:xfrm>
            <a:off x="10607040" y="22860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64240" y="22860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6" name="Shape 44"/>
          <p:cNvSpPr/>
          <p:nvPr/>
        </p:nvSpPr>
        <p:spPr>
          <a:xfrm>
            <a:off x="11521440" y="22860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7" name="Shape 45"/>
          <p:cNvSpPr/>
          <p:nvPr/>
        </p:nvSpPr>
        <p:spPr>
          <a:xfrm>
            <a:off x="7863840" y="27432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48" name="Shape 46"/>
          <p:cNvSpPr/>
          <p:nvPr/>
        </p:nvSpPr>
        <p:spPr>
          <a:xfrm>
            <a:off x="8321040" y="2743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49" name="Shape 47"/>
          <p:cNvSpPr/>
          <p:nvPr/>
        </p:nvSpPr>
        <p:spPr>
          <a:xfrm>
            <a:off x="8778240" y="2743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50" name="Shape 48"/>
          <p:cNvSpPr/>
          <p:nvPr/>
        </p:nvSpPr>
        <p:spPr>
          <a:xfrm>
            <a:off x="9235440" y="27432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51" name="Shape 49"/>
          <p:cNvSpPr/>
          <p:nvPr/>
        </p:nvSpPr>
        <p:spPr>
          <a:xfrm>
            <a:off x="9692640" y="2743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52" name="Shape 50"/>
          <p:cNvSpPr/>
          <p:nvPr/>
        </p:nvSpPr>
        <p:spPr>
          <a:xfrm>
            <a:off x="10149840" y="2743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53" name="Shape 51"/>
          <p:cNvSpPr/>
          <p:nvPr/>
        </p:nvSpPr>
        <p:spPr>
          <a:xfrm>
            <a:off x="10607040" y="2743200"/>
            <a:ext cx="82296" cy="82296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54" name="Shape 52"/>
          <p:cNvSpPr/>
          <p:nvPr/>
        </p:nvSpPr>
        <p:spPr>
          <a:xfrm>
            <a:off x="11064240" y="2743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55" name="Shape 53"/>
          <p:cNvSpPr/>
          <p:nvPr/>
        </p:nvSpPr>
        <p:spPr>
          <a:xfrm>
            <a:off x="11521440" y="2743200"/>
            <a:ext cx="82296" cy="82296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56" name="Text 54"/>
          <p:cNvSpPr/>
          <p:nvPr/>
        </p:nvSpPr>
        <p:spPr>
          <a:xfrm>
            <a:off x="640080" y="1737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STAGE 0 STRATEGIC SCREENING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40080" y="2148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UMC 東南亞擴張策略</a:t>
            </a:r>
            <a:endParaRPr lang="en-US" sz="4800" dirty="0"/>
          </a:p>
        </p:txBody>
      </p:sp>
      <p:sp>
        <p:nvSpPr>
          <p:cNvPr id="58" name="Text 56"/>
          <p:cNvSpPr/>
          <p:nvPr/>
        </p:nvSpPr>
        <p:spPr>
          <a:xfrm>
            <a:off x="640080" y="3154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六國政府補助與稅務優惠評估 — 以 Singapore Fab 12i P3 為基準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658368" y="3886200"/>
            <a:ext cx="2194560" cy="0"/>
          </a:xfrm>
          <a:prstGeom prst="line">
            <a:avLst/>
          </a:prstGeom>
          <a:noFill/>
          <a:ln w="31750">
            <a:solidFill>
              <a:srgbClr val="E0A45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核心判斷   </a:t>
            </a:r>
            <a:pPr indent="0" marL="0">
              <a:buNone/>
            </a:pPr>
            <a:r>
              <a:rPr lang="en-US" sz="16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優先執行 Singapore Fab 12i P3；其餘五國以條件式 watchlist 管理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Max Chen  ·  2026 更新版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一句話結論：先做好新加坡，其他國家分級觀察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70048" cy="4480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713232" cy="71323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4825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7889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Singapore — Anchor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2128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現有政策工具、R&amp;D 資金與高價值製造誘因可直接支撐 Fab 12i P3。視為 baseline，而非候選國。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468112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E1F6F5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54681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8C8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最直接、最可信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554480"/>
            <a:ext cx="2670048" cy="4480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0" y="1874520"/>
            <a:ext cx="713232" cy="71323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36" y="2048256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11880" y="27889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Malaysia — Top Watchlist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11880" y="3383280"/>
            <a:ext cx="22128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NSS 與 OSAT / packaging 生態系最貼近 UMC 下游支援需求，但須驗證後才升級。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611880" y="5468112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BF1E2"/>
          </a:solidFill>
          <a:ln/>
        </p:spPr>
      </p:sp>
      <p:sp>
        <p:nvSpPr>
          <p:cNvPr id="17" name="Text 13"/>
          <p:cNvSpPr/>
          <p:nvPr/>
        </p:nvSpPr>
        <p:spPr>
          <a:xfrm>
            <a:off x="3611880" y="54681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6A1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最值得追蹤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217920" y="1554480"/>
            <a:ext cx="2670048" cy="4480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92240" y="1874520"/>
            <a:ext cx="713232" cy="71323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2048256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46520" y="27889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Thailand — Specialty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46520" y="3383280"/>
            <a:ext cx="22128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Automotive / power / analog specialty 需求具策略觀察價值。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6446520" y="5468112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BF1E2"/>
          </a:solidFill>
          <a:ln/>
        </p:spPr>
      </p:sp>
      <p:sp>
        <p:nvSpPr>
          <p:cNvPr id="24" name="Text 19"/>
          <p:cNvSpPr/>
          <p:nvPr/>
        </p:nvSpPr>
        <p:spPr>
          <a:xfrm>
            <a:off x="6446520" y="54681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6A1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Specialty watchlist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9052560" y="1554480"/>
            <a:ext cx="2670048" cy="4480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326880" y="1874520"/>
            <a:ext cx="713232" cy="71323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616" y="2048256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281160" y="2788920"/>
            <a:ext cx="2212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VN / PH / ID — Support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9281160" y="3383280"/>
            <a:ext cx="221284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後段、客戶支援、IC design 與長期政策訊號值得追蹤，但不足以單獨構成投資理由。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9281160" y="5468112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EDEFF3"/>
          </a:solidFill>
          <a:ln/>
        </p:spPr>
      </p:sp>
      <p:sp>
        <p:nvSpPr>
          <p:cNvPr id="31" name="Text 25"/>
          <p:cNvSpPr/>
          <p:nvPr/>
        </p:nvSpPr>
        <p:spPr>
          <a:xfrm>
            <a:off x="9281160" y="54681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67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 / 長期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THE FRAMING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補助不創造需求 — 它只改善 economics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207008"/>
          </a:xfrm>
          <a:prstGeom prst="roundRect">
            <a:avLst>
              <a:gd name="adj" fmla="val 5303"/>
            </a:avLst>
          </a:prstGeom>
          <a:solidFill>
            <a:srgbClr val="16264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84248"/>
            <a:ext cx="621792" cy="62179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39696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89280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7C7C0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補助改善的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846320" y="1892808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稅率、credit、capex 回收速度與 R&amp;D 成本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3108960"/>
            <a:ext cx="11064240" cy="1207008"/>
          </a:xfrm>
          <a:prstGeom prst="roundRect">
            <a:avLst>
              <a:gd name="adj" fmla="val 5303"/>
            </a:avLst>
          </a:prstGeom>
          <a:solidFill>
            <a:srgbClr val="16264A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401568"/>
            <a:ext cx="621792" cy="62179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3557016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31012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45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補助不能取代的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846320" y="3310128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客戶需求、partner economics、power / water / talent、ROIC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4526280"/>
            <a:ext cx="11064240" cy="1207008"/>
          </a:xfrm>
          <a:prstGeom prst="roundRect">
            <a:avLst>
              <a:gd name="adj" fmla="val 5303"/>
            </a:avLst>
          </a:prstGeom>
          <a:solidFill>
            <a:srgbClr val="16264A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818888"/>
            <a:ext cx="621792" cy="62179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974336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72744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FC6E9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本文件的定位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4846320" y="4727448"/>
            <a:ext cx="6492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Stage 0 公開政策訊號整理，不取代內部 ruling 與工程可行性 diligence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PORTFOLIO 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六國總覽：對 UMC 的有用方向與初步評價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931920"/>
                <a:gridCol w="329184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國家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主要公開補助 / 優惠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對 UMC 最有用方向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初步評價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Singapore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PC / DEI、Refundable Investment Credit、S$800m 半導體 R&amp;D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Fab 12i P3、R&amp;D、高價值製造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最直接、最可信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Malaysia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National Semiconductor Strategy、RM25b、2026 新獎勵框架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Packaging / OSAT 生態系、partner watchlist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最值得追蹤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Thailand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BOI 半導體策略、power/analog、訓練補助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Automotive / power / analog specialty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specialty 策略價值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Vietnam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高科技 / 經濟區 CIT 優惠、tax holiday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EMS / testing / customer support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須驗證直接連動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Philippines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CREATE MORE Act、New Clark City AI hub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客戶支援、英語 account operations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偏支援性角色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Indonesia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Tax holiday / allowance、Danantara–Arm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IC design / talent / 長期市場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短期製造可行性低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  ·  ANCHOR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Singapore：主策略，不是候選國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749040" cy="4434840"/>
          </a:xfrm>
          <a:prstGeom prst="roundRect">
            <a:avLst>
              <a:gd name="adj" fmla="val 1951"/>
            </a:avLst>
          </a:prstGeom>
          <a:solidFill>
            <a:srgbClr val="0E1B33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6596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606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管理判斷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297180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Singapore 是 baseline / anchor，不應被視為普通候選國。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68680" y="443484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資本效率優先：量產爬坡、客戶導入、稼動率、良率、折舊吸收與 ROIC。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26280" y="1627632"/>
            <a:ext cx="70866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929384"/>
            <a:ext cx="384048" cy="384048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1" name="Text 8"/>
          <p:cNvSpPr/>
          <p:nvPr/>
        </p:nvSpPr>
        <p:spPr>
          <a:xfrm>
            <a:off x="4754880" y="19293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03520" y="1737360"/>
            <a:ext cx="6126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PC / DEI 稅務誘因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303520" y="2066544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EDB Pioneer Certificate 與 Development &amp; Expansion Incentive — 鼓勵新能力與高價值活動，符合者享免稅或優惠稅率。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26280" y="2743200"/>
            <a:ext cx="70866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754880" y="3044952"/>
            <a:ext cx="384048" cy="384048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6" name="Text 13"/>
          <p:cNvSpPr/>
          <p:nvPr/>
        </p:nvSpPr>
        <p:spPr>
          <a:xfrm>
            <a:off x="4754880" y="30449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303520" y="2852928"/>
            <a:ext cx="6126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Refundable Investment Credit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303520" y="318211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對合格投資支出給予可抵 corporate income tax 的 credit。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26280" y="3858768"/>
            <a:ext cx="70866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4160520"/>
            <a:ext cx="384048" cy="384048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1" name="Text 18"/>
          <p:cNvSpPr/>
          <p:nvPr/>
        </p:nvSpPr>
        <p:spPr>
          <a:xfrm>
            <a:off x="475488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03520" y="3968496"/>
            <a:ext cx="6126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S$800m 半導體 R&amp;D（Budget 2026）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303520" y="4297680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投入半導體研發並設立 power electronics R&amp;D centre。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526280" y="4974336"/>
            <a:ext cx="70866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54880" y="5276088"/>
            <a:ext cx="384048" cy="384048"/>
          </a:xfrm>
          <a:prstGeom prst="ellipse">
            <a:avLst/>
          </a:prstGeom>
          <a:solidFill>
            <a:srgbClr val="E0A458"/>
          </a:solidFill>
          <a:ln/>
        </p:spPr>
      </p:sp>
      <p:sp>
        <p:nvSpPr>
          <p:cNvPr id="26" name="Text 23"/>
          <p:cNvSpPr/>
          <p:nvPr/>
        </p:nvSpPr>
        <p:spPr>
          <a:xfrm>
            <a:off x="4754880" y="52760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5303520" y="5084064"/>
            <a:ext cx="6126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對 UMC 的意義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303520" y="5413248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最直接支撐 Fab 12i P3、製程研發、高階 customer engineering 與區域製造能力。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  ·  TOP WATCHLIST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Malaysia：最重要的非新加坡選項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566928" cy="566928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05740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933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公開政策 / 補助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269748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National Semiconductor Strategy — 至少 RM25b 政策支援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方向：enhanced OSAT、advanced packaging、IC design、高價值製造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2026 New Incentive Framework — 製造業自 2026 Q1 起逐步實施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4406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1920240"/>
            <a:ext cx="566928" cy="566928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9933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對 UMC 的意義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37960" y="269748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最有價值：Packaging / OSAT 生態系 watchlist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重點區域：Penang / Kulim 封測、生態系與工程人才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不等於 UMC 應立即自建 advanced packaging 廠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5600"/>
            </a:avLst>
          </a:prstGeom>
          <a:solidFill>
            <a:srgbClr val="0E1B3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3036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5029200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管理判斷：  </a:t>
            </a:r>
            <a:pPr indent="0" marL="0">
              <a:buNone/>
            </a:pPr>
            <a:r>
              <a:rPr lang="en-US" sz="15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除非 customer overlap、partner economics、政府 incentive package 與 ROIC 都被驗證，否則維持 conditional watchlist。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  ·  CONDITIONAL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其餘四國：功能性與長期觀察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40680" cy="2121408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65376"/>
            <a:ext cx="585216" cy="585216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011680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Thailand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00200" y="2231136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6A1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Specialty watchlist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BOI 半導體策略聚焦 power / sensors / photonics / analog。價值在 automotive、power、industrial、analog specialty demand 的 sales / customer coverage。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572768"/>
            <a:ext cx="5440680" cy="2121408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865376"/>
            <a:ext cx="585216" cy="585216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544" y="201168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2376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Vietnam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223760" y="2231136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8C8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後段 / 支援 watchlist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5176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高科技 / 經濟區 CIT 優惠、tax holiday；後段投資增加（Intel、Amkor 等）。較適合 EMS / testing、customer support。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877056"/>
            <a:ext cx="5440680" cy="2121408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4169664"/>
            <a:ext cx="585216" cy="585216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3159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41330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Philippines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1600200" y="453542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支援性角色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14400" y="495604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CREATE MORE Act 強化 fiscal incentives；New Clark City AI / semiconductor hub。適合客戶支援、英語 account operations、供應鏈監測。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72200" y="3877056"/>
            <a:ext cx="5440680" cy="2121408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492240" y="4169664"/>
            <a:ext cx="585216" cy="585216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4315968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23760" y="41330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Indonesia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223760" y="453542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長期 / 政策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537960" y="495604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大型投資 tax holiday / allowance；Danantara–Arm 推動本地 AI 與 chip design 人才。短期製造連動弱，屬 design / talent watchlist。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STRATEGIC FIT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對 Fab 12i 主線的相對相關性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73152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9164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16264A"/>
          </a:solidFill>
          <a:ln/>
        </p:spPr>
      </p:sp>
      <p:sp>
        <p:nvSpPr>
          <p:cNvPr id="6" name="Text 3"/>
          <p:cNvSpPr/>
          <p:nvPr/>
        </p:nvSpPr>
        <p:spPr>
          <a:xfrm>
            <a:off x="8458200" y="1920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C7C0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怎麼讀這張圖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458200" y="2423160"/>
            <a:ext cx="29718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相對排序，非絕對分數。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Singapore 設為 100 = anchor 基準。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Malaysia 明顯領先其他四國。</a:t>
            </a:r>
            <a:endParaRPr lang="en-US" sz="1250" dirty="0"/>
          </a:p>
          <a:p>
            <a:pPr marL="177800" indent="-177800">
              <a:buSzPct val="100000"/>
              <a:buChar char="•"/>
            </a:pPr>
            <a:r>
              <a:rPr lang="en-US" sz="12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排序反映與 Fab 12i 商業連動，非國家潛力。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三種商業模式：UMC 要參考誰、不要複製誰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47672"/>
            <a:ext cx="777240" cy="77724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139696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11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TSMC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783080" y="24505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8C8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Pure-play foundry 龍頭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090672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前段製造為核心，後段以 turnkey 外包給 Amkor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綁定標的是 CoWoS / InFO 等 AI / HPC 高階封裝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量價足以攤平 70 億美元級後段資本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97680" y="1627632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1947672"/>
            <a:ext cx="777240" cy="77724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39696"/>
            <a:ext cx="393192" cy="39319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2011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Amkor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5532120" y="24505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6A1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全球最大美系 OSAT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663440" y="3090672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純後段 turnkey：封裝 + 測試服務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$7B Peoria（亞利桑那）封測 campus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同時服務 TSMC 與 Intel — 中立第三方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627632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66760" y="1947672"/>
            <a:ext cx="777240" cy="77724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2139696"/>
            <a:ext cx="393192" cy="3931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2011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Intel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9281160" y="24505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IDM + Foundry 雙身份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412480" y="3090672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製造巨人：先進製程 + 美國 fab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外部 foundry service 經驗仍在建立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 UMC 合作 12nm 補服務能力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0E1B33"/>
          </a:solidFill>
          <a:ln/>
        </p:spPr>
      </p:sp>
      <p:sp>
        <p:nvSpPr>
          <p:cNvPr id="23" name="Text 18"/>
          <p:cNvSpPr/>
          <p:nvPr/>
        </p:nvSpPr>
        <p:spPr>
          <a:xfrm>
            <a:off x="914400" y="544068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 UMC 的啟示：  </a:t>
            </a:r>
            <a:pPr indent="0" marL="0">
              <a:buNone/>
            </a:pPr>
            <a:r>
              <a:rPr lang="en-US" sz="13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TSMC–Amkor 的後段重綁定建立在 AI / HPC 量價之上；UMC 28/22nm 車用特殊製程量價不同，不該照抄 turnkey，而應前段深化 + 後段輕度協調。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THE TURNKEY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先看 TSMC–Amkor 的合作框架長什麼樣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4206240" cy="1783080"/>
          </a:xfrm>
          <a:prstGeom prst="roundRect">
            <a:avLst>
              <a:gd name="adj" fmla="val 4103"/>
            </a:avLst>
          </a:prstGeom>
          <a:solidFill>
            <a:srgbClr val="16264A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1965960"/>
            <a:ext cx="713232" cy="71323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736" y="213969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011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TSMC 前段 fab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88720" y="27432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亞利桑那 Phoenix 晶圓製造（leading-edge）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31720"/>
            <a:ext cx="548640" cy="5486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83680" y="1691640"/>
            <a:ext cx="4206240" cy="1783080"/>
          </a:xfrm>
          <a:prstGeom prst="roundRect">
            <a:avLst>
              <a:gd name="adj" fmla="val 4103"/>
            </a:avLst>
          </a:prstGeom>
          <a:solidFill>
            <a:srgbClr val="16264A"/>
          </a:solidFill>
          <a:ln/>
        </p:spPr>
      </p:sp>
      <p:sp>
        <p:nvSpPr>
          <p:cNvPr id="11" name="Shape 7"/>
          <p:cNvSpPr/>
          <p:nvPr/>
        </p:nvSpPr>
        <p:spPr>
          <a:xfrm>
            <a:off x="6903720" y="1965960"/>
            <a:ext cx="713232" cy="713232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213969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772400" y="2011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Amkor 後段 OSAT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949440" y="27432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Peoria 封測 campus，turnkey 封裝 + 測試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794760"/>
            <a:ext cx="2670048" cy="2194560"/>
          </a:xfrm>
          <a:prstGeom prst="roundRect">
            <a:avLst>
              <a:gd name="adj" fmla="val 2917"/>
            </a:avLst>
          </a:prstGeom>
          <a:solidFill>
            <a:srgbClr val="16264A"/>
          </a:solidFill>
          <a:ln/>
        </p:spPr>
      </p:sp>
      <p:sp>
        <p:nvSpPr>
          <p:cNvPr id="16" name="Shape 11"/>
          <p:cNvSpPr/>
          <p:nvPr/>
        </p:nvSpPr>
        <p:spPr>
          <a:xfrm>
            <a:off x="548640" y="3794760"/>
            <a:ext cx="73152" cy="2194560"/>
          </a:xfrm>
          <a:prstGeom prst="rect">
            <a:avLst/>
          </a:prstGeom>
          <a:solidFill>
            <a:srgbClr val="37C7C0"/>
          </a:solidFill>
          <a:ln/>
        </p:spPr>
      </p:sp>
      <p:sp>
        <p:nvSpPr>
          <p:cNvPr id="17" name="Text 12"/>
          <p:cNvSpPr/>
          <p:nvPr/>
        </p:nvSpPr>
        <p:spPr>
          <a:xfrm>
            <a:off x="822960" y="4023360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10 年長約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2960" y="4572000"/>
            <a:ext cx="216712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2024 MOU → 2026 擴大為 10 年合作框架，TSMC 向 Amkor 採購 turnkey 封測。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383280" y="3794760"/>
            <a:ext cx="2670048" cy="2194560"/>
          </a:xfrm>
          <a:prstGeom prst="roundRect">
            <a:avLst>
              <a:gd name="adj" fmla="val 2917"/>
            </a:avLst>
          </a:prstGeom>
          <a:solidFill>
            <a:srgbClr val="16264A"/>
          </a:solidFill>
          <a:ln/>
        </p:spPr>
      </p:sp>
      <p:sp>
        <p:nvSpPr>
          <p:cNvPr id="20" name="Shape 15"/>
          <p:cNvSpPr/>
          <p:nvPr/>
        </p:nvSpPr>
        <p:spPr>
          <a:xfrm>
            <a:off x="3383280" y="3794760"/>
            <a:ext cx="73152" cy="2194560"/>
          </a:xfrm>
          <a:prstGeom prst="rect">
            <a:avLst/>
          </a:prstGeom>
          <a:solidFill>
            <a:srgbClr val="37C7C0"/>
          </a:solidFill>
          <a:ln/>
        </p:spPr>
      </p:sp>
      <p:sp>
        <p:nvSpPr>
          <p:cNvPr id="21" name="Text 16"/>
          <p:cNvSpPr/>
          <p:nvPr/>
        </p:nvSpPr>
        <p:spPr>
          <a:xfrm>
            <a:off x="3657600" y="4023360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前後段就近綁定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3657600" y="4572000"/>
            <a:ext cx="216712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前段 fab 與後段封測廠地理相鄰，縮短整體產品週期。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217920" y="3794760"/>
            <a:ext cx="2670048" cy="2194560"/>
          </a:xfrm>
          <a:prstGeom prst="roundRect">
            <a:avLst>
              <a:gd name="adj" fmla="val 2917"/>
            </a:avLst>
          </a:prstGeom>
          <a:solidFill>
            <a:srgbClr val="16264A"/>
          </a:solidFill>
          <a:ln/>
        </p:spPr>
      </p:sp>
      <p:sp>
        <p:nvSpPr>
          <p:cNvPr id="24" name="Shape 19"/>
          <p:cNvSpPr/>
          <p:nvPr/>
        </p:nvSpPr>
        <p:spPr>
          <a:xfrm>
            <a:off x="6217920" y="3794760"/>
            <a:ext cx="73152" cy="219456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25" name="Text 20"/>
          <p:cNvSpPr/>
          <p:nvPr/>
        </p:nvSpPr>
        <p:spPr>
          <a:xfrm>
            <a:off x="6492240" y="4023360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標的是高階封裝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6492240" y="4572000"/>
            <a:ext cx="216712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CoWoS / InFO，服務 HPC / AI 高效能運算客戶。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9052560" y="3794760"/>
            <a:ext cx="2670048" cy="2194560"/>
          </a:xfrm>
          <a:prstGeom prst="roundRect">
            <a:avLst>
              <a:gd name="adj" fmla="val 2917"/>
            </a:avLst>
          </a:prstGeom>
          <a:solidFill>
            <a:srgbClr val="16264A"/>
          </a:solidFill>
          <a:ln/>
        </p:spPr>
      </p:sp>
      <p:sp>
        <p:nvSpPr>
          <p:cNvPr id="28" name="Shape 23"/>
          <p:cNvSpPr/>
          <p:nvPr/>
        </p:nvSpPr>
        <p:spPr>
          <a:xfrm>
            <a:off x="9052560" y="3794760"/>
            <a:ext cx="73152" cy="219456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29" name="Text 24"/>
          <p:cNvSpPr/>
          <p:nvPr/>
        </p:nvSpPr>
        <p:spPr>
          <a:xfrm>
            <a:off x="9326880" y="4023360"/>
            <a:ext cx="22128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全美供應鏈訴求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9326880" y="4572000"/>
            <a:ext cx="216712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矽到封測不出境，回應客戶對 geographic flexibility 的需求。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WHY NOT COPY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為什麼 UMC 不該照抄 TSMC–Amkor 後段重綁定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320040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關鍵維度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TSMC–Amkor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UMC 現況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含義</a:t>
                      </a:r>
                      <a:endParaRPr lang="en-US" sz="13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量價結構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CoWoS / InFO 高階封裝，單片價值與量體足以攤平 70 億美元級後段資本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28/22nm 車用特殊製程，封裝成熟、單價低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A1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turnkey 自建單位經濟跨不過門檻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政治溢價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賣「全美供應鏈、矽到封測不出境」，客戶是願付溢價的國防 / 政府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新馬區域沒有同等級政治溢價可收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A1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少了溢價來源，回報結構不同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2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客戶主導權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有議價權可硬推 turnkey；客戶接受度高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純代工下封測選擇權在客戶手上，強推恐與既有 OSAT 關係衝突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A1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硬推 turnkey 反而降低客戶彈性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86400"/>
            <a:ext cx="11064240" cy="822960"/>
          </a:xfrm>
          <a:prstGeom prst="roundRect">
            <a:avLst>
              <a:gd name="adj" fmla="val 7778"/>
            </a:avLst>
          </a:prstGeom>
          <a:solidFill>
            <a:srgbClr val="0E1B33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54864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結論：  </a:t>
            </a:r>
            <a:pPr indent="0" marL="0">
              <a:buNone/>
            </a:pPr>
            <a:r>
              <a:rPr lang="en-US" sz="14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三個差異都對 UMC 不利。正解是把重資本投在自己有護城河的前段，後段用合約彈性而非股權綁定。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INTEL × UMC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Intel 找 UMC，補的不是「會不會做晶圓」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Intel 是很會做高難度製程的製造巨人，但還在學怎麼當純 foundry；UMC 是成熟的純 foundry，但沒有 Intel 的先進製程與美國製造資產。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2743200"/>
          </a:xfrm>
          <a:prstGeom prst="roundRect">
            <a:avLst>
              <a:gd name="adj" fmla="val 2667"/>
            </a:avLst>
          </a:prstGeom>
          <a:solidFill>
            <a:srgbClr val="16264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402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Intel 補 UMC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Intel → UMC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315468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先進製造能力、美國 fab 資產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FinFET / EUV / 未來先進節點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先進封裝（EMIB / Foveros）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011680"/>
            <a:ext cx="5440680" cy="2743200"/>
          </a:xfrm>
          <a:prstGeom prst="roundRect">
            <a:avLst>
              <a:gd name="adj" fmla="val 2667"/>
            </a:avLst>
          </a:prstGeom>
          <a:solidFill>
            <a:srgbClr val="16264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2402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UMC 補 Intel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697480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A45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UMC → Intel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0" y="315468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成熟 foundry service 與客戶導入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PDK / EDA / IP 生態系協調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外部客戶量產與成熟節點商業化經驗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11064240" cy="1097280"/>
          </a:xfrm>
          <a:prstGeom prst="roundRect">
            <a:avLst>
              <a:gd name="adj" fmla="val 5833"/>
            </a:avLst>
          </a:prstGeom>
          <a:solidFill>
            <a:srgbClr val="0E1B33"/>
          </a:solidFill>
          <a:ln w="12700">
            <a:solidFill>
              <a:srgbClr val="2744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比喻：  </a:t>
            </a:r>
            <a:pPr indent="0" marL="0">
              <a:buNone/>
            </a:pPr>
            <a:r>
              <a:rPr lang="en-US" sz="14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Intel 比較會造引擎，UMC 比較會開計程車公司。引擎技術更高階，但要讓很多客戶放心上車、排班、收費、維修、準時抵達，UMC 的經驗更成熟。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STRENGTH 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兩者強項對照，與 12nm 為何是甜蜜點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400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能力項目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Intel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UMC</a:t>
                      </a:r>
                      <a:endParaRPr lang="en-US" sz="120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先進製程（18A / 14A）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8C87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強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弱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EUV / leading-edge 製造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8C87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強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非主戰場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美國先進製造基地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8C87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強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相對沒有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純 foundry 客戶服務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建立中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C6A1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很強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成熟節點商業化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經驗較少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C6A1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很強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PDK / IP / EDA 外部導入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補強中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C6A1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成熟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 客戶中立性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A3550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有疑慮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C6A1F"/>
                          </a:solidFill>
                          <a:latin typeface="Noto Sans CJK TC" pitchFamily="34" charset="0"/>
                          <a:ea typeface="Noto Sans CJK TC" pitchFamily="34" charset="-122"/>
                          <a:cs typeface="Noto Sans CJK TC" pitchFamily="34" charset="-120"/>
                        </a:rPr>
                        <a:t>較自然</a:t>
                      </a:r>
                      <a:endParaRPr lang="en-US" sz="1150" dirty="0">
                        <a:latin typeface="Noto Sans CJK TC" charset="0"/>
                        <a:ea typeface="Noto Sans CJK TC" charset="0"/>
                        <a:cs typeface="Noto Sans CJK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78040" y="1600200"/>
            <a:ext cx="4434840" cy="3977640"/>
          </a:xfrm>
          <a:prstGeom prst="roundRect">
            <a:avLst>
              <a:gd name="adj" fmla="val 1839"/>
            </a:avLst>
          </a:prstGeom>
          <a:solidFill>
            <a:srgbClr val="0E1B33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0" y="1874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7C7C0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為何是 12nm？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498080" y="2377440"/>
            <a:ext cx="38404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 UMC 主力 22/28nm 更先進，又不像 3nm 那樣需要極端客戶生態與良率驗證。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是最先進、但不需 EUV 的節點 — price-performance 甜蜜點。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落在美國 Arizona（Ocotillo）製造，給客戶 China-free 的供應鏈選項。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 Intel 學 pure foundry、讓 UMC 升級節點、讓客戶取得美國製造選項。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 UMC 的啟示：  </a:t>
            </a:r>
            <a:pPr indent="0" marL="0">
              <a:buNone/>
            </a:pPr>
            <a:r>
              <a:rPr lang="en-US" sz="12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UMC 的護城河是「把製程變成客戶願意長期投片的 foundry product」。東南亞布局也應該圍繞這個服務能力，而非追前沿節點或重資本後段。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資料：Intel / UMC 官方公告（2024-01-25）、UMC 2025 法說、2025–2026 公開報導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PRECONDITIONS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UMC 東南亞擴張的前提要件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先前分析的核心結論：以新加坡為錨，前段深化、後段解耦但輕度協調。任何後段重綁定都須先通過三道驗證。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04288"/>
            <a:ext cx="603504" cy="603504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459736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176272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 ｜ Anchor demand 驗證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532120" y="2176272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既有客戶是否有具約束力的產能承諾（take-or-pay / capacity reservation）？沒有 anchor demand 就投產能，是 OSAT / 晶圓業最典型的價值陷阱。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383280"/>
            <a:ext cx="110642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383133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783080" y="3547872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 ｜ 單位經濟驗證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5532120" y="3547872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在地化後的全成本（人力、稅務獎勵、物流、學習曲線）是否真的低於現有「台 / 星前段 + 既有封測」路徑？算出 break-even 良率與稼動率門檻。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5047488"/>
            <a:ext cx="603504" cy="603504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520293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4919472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 ｜ 不可替代性（護城河）驗證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5532120" y="4919472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布局是否創造客戶難以複製的綜效（turnkey、地緣分散、節點對齊）？若客戶可輕易找其他 OSAT 達成同樣效果，則無護城河。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三點同時成立才算正確策略；任一不成立就該重新界定範圍。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EXPANSION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三層擴張做法 × Dashboard 的 Country × Mode 矩陣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2880360"/>
          </a:xfrm>
          <a:prstGeom prst="roundRect">
            <a:avLst>
              <a:gd name="adj" fmla="val 2540"/>
            </a:avLst>
          </a:prstGeom>
          <a:solidFill>
            <a:srgbClr val="0E1B33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第一層 · 核心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前段深化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68680" y="288036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6264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88036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高信心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新加坡定位為台灣以外、China-free 的特殊製程第二中心（含 55nm BCD）。重資本投在自己最有護城河的前段。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56616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1965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8A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第二層 · 協調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7720" y="23134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後段輕度協同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4617720" y="288036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EEF1F6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88036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67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中信心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38328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不出資、不合資；與區域 OSAT 建立製程界面預先對接、FA 協同與優選名單。拿週期縮短的好處，不背重資本。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1691640"/>
            <a:ext cx="356616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65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第三層 · 選擇權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66760" y="23134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局部後段投入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8366760" y="288036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EEF1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288036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67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低信心 · 需驗證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66760" y="338328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僅在單一車用大客戶給 take-or-pay 等級承諾、且量價足夠時才啟動。是 option，不是 base case。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5185"/>
            </a:avLst>
          </a:prstGeom>
          <a:solidFill>
            <a:srgbClr val="EAEFF6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38928"/>
            <a:ext cx="502920" cy="5029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600200" y="489204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 Dashboard：  </a:t>
            </a:r>
            <a:pPr indent="0" marL="0">
              <a:buNone/>
            </a:pPr>
            <a:r>
              <a:rPr lang="en-US" sz="1300" dirty="0">
                <a:solidFill>
                  <a:srgbClr val="44516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你的 Country × Mode 矩陣與 commitment-intensity 光譜，正好把這三層映成「國家 × 投入強度」的決策格。建議把每格標上目前所處 Stage（0 篩選 / 1 diligence / 2 投資），讓政策與稅務優惠成為升級門檻，而非加分項。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把 Dashboard 變成 decision gate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290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27447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74520" y="2240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4472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Stage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74520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公開政策訊號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4612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整理補助、稅務優惠與半導體政策 — 即本份篩選報告。</a:t>
            </a:r>
            <a:endParaRPr lang="en-US" sz="13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4216" y="3044952"/>
            <a:ext cx="402336" cy="40233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453128" y="1828800"/>
            <a:ext cx="34290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73168" y="2148840"/>
            <a:ext cx="822960" cy="822960"/>
          </a:xfrm>
          <a:prstGeom prst="ellipse">
            <a:avLst/>
          </a:prstGeom>
          <a:solidFill>
            <a:srgbClr val="E0A458"/>
          </a:solidFill>
          <a:ln/>
        </p:spPr>
      </p:sp>
      <p:sp>
        <p:nvSpPr>
          <p:cNvPr id="13" name="Text 10"/>
          <p:cNvSpPr/>
          <p:nvPr/>
        </p:nvSpPr>
        <p:spPr>
          <a:xfrm>
            <a:off x="477316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779008" y="2240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Stage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779008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Diligence gate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18888" y="324612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政府 incentive package 明確、稅務條件可量化、客戶需求可驗證。</a:t>
            </a:r>
            <a:endParaRPr lang="en-US" sz="13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3044952"/>
            <a:ext cx="402336" cy="40233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357616" y="1828800"/>
            <a:ext cx="34290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677656" y="2148840"/>
            <a:ext cx="822960" cy="82296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0" name="Text 16"/>
          <p:cNvSpPr/>
          <p:nvPr/>
        </p:nvSpPr>
        <p:spPr>
          <a:xfrm>
            <a:off x="8677656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3000" dirty="0"/>
          </a:p>
        </p:txBody>
      </p:sp>
      <p:sp>
        <p:nvSpPr>
          <p:cNvPr id="21" name="Text 17"/>
          <p:cNvSpPr/>
          <p:nvPr/>
        </p:nvSpPr>
        <p:spPr>
          <a:xfrm>
            <a:off x="9683496" y="2240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Stage 2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9683496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升級為投資案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8723376" y="324612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通過 ROIC、partner economics、capex/opex、power/water/talent 後才升級。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0E1B33"/>
          </a:solidFill>
          <a:ln/>
        </p:spPr>
      </p:sp>
      <p:sp>
        <p:nvSpPr>
          <p:cNvPr id="25" name="Text 21"/>
          <p:cNvSpPr/>
          <p:nvPr/>
        </p:nvSpPr>
        <p:spPr>
          <a:xfrm>
            <a:off x="914400" y="498348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原則：  </a:t>
            </a:r>
            <a:pPr indent="0" marL="0">
              <a:buNone/>
            </a:pPr>
            <a:r>
              <a:rPr lang="en-US" sz="150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只有在補助條件明確、稅務可量化、需求可驗證時，才把 watchlist 升級成投資案。補助只改善 economics，不創造需求。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DILIGENCE CHECKLIST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升級為投資案前仍須驗證的條件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93592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65960"/>
            <a:ext cx="640080" cy="64008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29968"/>
            <a:ext cx="2313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客戶需求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743200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Fab 12i 客戶是否真的需要該國 support？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25112" y="1645920"/>
            <a:ext cx="3593592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1965960"/>
            <a:ext cx="640080" cy="64008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22392" y="2029968"/>
            <a:ext cx="2313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Partner economics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45152" y="2743200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合作方條件與 customer overlap 是否成立？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01584" y="1645920"/>
            <a:ext cx="3593592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1965960"/>
            <a:ext cx="640080" cy="64008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1214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98864" y="2029968"/>
            <a:ext cx="2313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Power / 基礎建設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21624" y="2743200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電力供應與穩定度能否支撐製造負載？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721608"/>
            <a:ext cx="3593592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41248" y="4041648"/>
            <a:ext cx="640080" cy="64008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4197096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4105656"/>
            <a:ext cx="2313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Water / 環境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868680" y="4818888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水資源、環境與營運條件是否充足？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25112" y="3721608"/>
            <a:ext cx="3593592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17720" y="4041648"/>
            <a:ext cx="640080" cy="64008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4197096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22392" y="4105656"/>
            <a:ext cx="2313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Talent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4645152" y="4818888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當地是否能支援 B2B foundry customer engineering？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101584" y="3721608"/>
            <a:ext cx="3593592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94192" y="4041648"/>
            <a:ext cx="640080" cy="640080"/>
          </a:xfrm>
          <a:prstGeom prst="ellipse">
            <a:avLst/>
          </a:prstGeom>
          <a:solidFill>
            <a:srgbClr val="0E1B33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0" y="4197096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198864" y="4105656"/>
            <a:ext cx="23134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ROIC / Capex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8421624" y="4818888"/>
            <a:ext cx="2953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1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稅務 ruling 與 incentive package 後的回報是否達標？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建議結論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713232" cy="713232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51460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91640" y="24688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Singapore 優先於外部擴張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91640" y="2944368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公開政策與補助最能直接支撐既有 Fab 12i P3；先確保量產爬坡、稼動率、良率、折舊吸收與 ROIC。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3813048"/>
            <a:ext cx="713232" cy="713232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813048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91640" y="3767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Malaysia 為首要非新加坡 watchlist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4242816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OSAT / packaging 生態系最符合 Fab 12i 下游支援需求 — 條件式 option，非自動升級為投資建議。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5111496"/>
            <a:ext cx="713232" cy="713232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111496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691640" y="5065776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其餘國家維持分級觀察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91640" y="5541264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AFC6E9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Thailand / Vietnam / Philippines / Indonesia 屬功能性或長期政策觀察，不足以單獨構成現階段外部擴張理由。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7C7C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53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主要資料來源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37944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164592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Singapore EDB — Incentives &amp; Facilitation Programmes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645920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0" y="1837944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9" name="Text 7"/>
          <p:cNvSpPr/>
          <p:nvPr/>
        </p:nvSpPr>
        <p:spPr>
          <a:xfrm>
            <a:off x="6739128" y="164592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IRAS — Refundable Investment Credit (RIC)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40864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532888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2340864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Singapore EDB — Budget 2026, S$800m semiconductor R&amp;D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340864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0" y="2532888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5" name="Text 13"/>
          <p:cNvSpPr/>
          <p:nvPr/>
        </p:nvSpPr>
        <p:spPr>
          <a:xfrm>
            <a:off x="6739128" y="2340864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MITI Malaysia — National Semiconductor Strategy (NSS)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35808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3227832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303580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MIDA — New Incentive Framework (NIF)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035808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3227832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1" name="Text 19"/>
          <p:cNvSpPr/>
          <p:nvPr/>
        </p:nvSpPr>
        <p:spPr>
          <a:xfrm>
            <a:off x="6739128" y="3035808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Vietnam Law Magazine — Revised CIT tech-sector incentives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730752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922776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4" name="Text 22"/>
          <p:cNvSpPr/>
          <p:nvPr/>
        </p:nvSpPr>
        <p:spPr>
          <a:xfrm>
            <a:off x="1115568" y="3730752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Thailand BOI — Long-term semiconductor strategy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730752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922776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27" name="Text 25"/>
          <p:cNvSpPr/>
          <p:nvPr/>
        </p:nvSpPr>
        <p:spPr>
          <a:xfrm>
            <a:off x="6739128" y="3730752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Reuters — Thailand semiconductor &amp; electronics target (2026)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425696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4617720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0" name="Text 28"/>
          <p:cNvSpPr/>
          <p:nvPr/>
        </p:nvSpPr>
        <p:spPr>
          <a:xfrm>
            <a:off x="1115568" y="4425696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Philippines FIRB — CREATE MORE resources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72200" y="4425696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4617720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3" name="Text 31"/>
          <p:cNvSpPr/>
          <p:nvPr/>
        </p:nvSpPr>
        <p:spPr>
          <a:xfrm>
            <a:off x="6739128" y="4425696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PNA — Philippines AI / semiconductor investment package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120640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5312664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6" name="Text 34"/>
          <p:cNvSpPr/>
          <p:nvPr/>
        </p:nvSpPr>
        <p:spPr>
          <a:xfrm>
            <a:off x="1115568" y="51206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PwC Indonesia — Corporate tax credits &amp; incentives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5120640"/>
            <a:ext cx="54406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E1B33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0" y="5312664"/>
            <a:ext cx="182880" cy="182880"/>
          </a:xfrm>
          <a:prstGeom prst="ellipse">
            <a:avLst/>
          </a:prstGeom>
          <a:solidFill>
            <a:srgbClr val="37C7C0"/>
          </a:solidFill>
          <a:ln/>
        </p:spPr>
      </p:sp>
      <p:sp>
        <p:nvSpPr>
          <p:cNvPr id="39" name="Text 37"/>
          <p:cNvSpPr/>
          <p:nvPr/>
        </p:nvSpPr>
        <p:spPr>
          <a:xfrm>
            <a:off x="6739128" y="51206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3550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Arm Newsroom — Danantara Indonesia partnership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Stage 0 strategic screening reference — 不取代 UMC 內部 ROIC、稅務 ruling、incentive package 與工程可行性 diligence。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UMC 東南亞擴張策略</dc:title>
  <dc:subject>PptxGenJS Presentation</dc:subject>
  <dc:creator>Max Chen</dc:creator>
  <cp:lastModifiedBy>Max Chen</cp:lastModifiedBy>
  <cp:revision>1</cp:revision>
  <dcterms:created xsi:type="dcterms:W3CDTF">2026-06-24T01:01:08Z</dcterms:created>
  <dcterms:modified xsi:type="dcterms:W3CDTF">2026-06-24T01:01:08Z</dcterms:modified>
</cp:coreProperties>
</file>