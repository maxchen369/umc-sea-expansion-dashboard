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Strategic relevance</c:v>
                </c:pt>
              </c:strCache>
            </c:strRef>
          </c:tx>
          <c:spPr>
            <a:solidFill>
              <a:srgbClr val="37C7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Noto Sans CJK T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Singapore</c:v>
                  </c:pt>
                  <c:pt idx="1">
                    <c:v>Malaysia</c:v>
                  </c:pt>
                  <c:pt idx="2">
                    <c:v>Thailand</c:v>
                  </c:pt>
                  <c:pt idx="3">
                    <c:v>Vietnam</c:v>
                  </c:pt>
                  <c:pt idx="4">
                    <c:v>Philippines</c:v>
                  </c:pt>
                  <c:pt idx="5">
                    <c:v>Indonesia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68</c:v>
                </c:pt>
                <c:pt idx="2">
                  <c:v>45</c:v>
                </c:pt>
                <c:pt idx="3">
                  <c:v>38</c:v>
                </c:pt>
                <c:pt idx="4">
                  <c:v>30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Noto Sans CJK T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Noto Sans CJK T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434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E1B33"/>
        </a:solidFill>
        <a:ln>
          <a:noFill/>
        </a:ln>
        <a:effectLst/>
      </c:spPr>
    </c:plotArea>
    <c:plotVisOnly val="1"/>
    <c:dispBlanksAs val="span"/>
  </c:chart>
  <c:spPr>
    <a:solidFill>
      <a:srgbClr val="0E1B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572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457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57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5" name="Shape 3"/>
          <p:cNvSpPr/>
          <p:nvPr/>
        </p:nvSpPr>
        <p:spPr>
          <a:xfrm>
            <a:off x="9235440" y="4572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457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7" name="Shape 5"/>
          <p:cNvSpPr/>
          <p:nvPr/>
        </p:nvSpPr>
        <p:spPr>
          <a:xfrm>
            <a:off x="10149840" y="457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4572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457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0" y="457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9144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9144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9144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5440" y="9144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5" name="Shape 13"/>
          <p:cNvSpPr/>
          <p:nvPr/>
        </p:nvSpPr>
        <p:spPr>
          <a:xfrm>
            <a:off x="9692640" y="9144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49840" y="9144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07040" y="9144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064240" y="9144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521440" y="9144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0" y="13716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1" name="Shape 19"/>
          <p:cNvSpPr/>
          <p:nvPr/>
        </p:nvSpPr>
        <p:spPr>
          <a:xfrm>
            <a:off x="8321040" y="13716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13716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3" name="Shape 21"/>
          <p:cNvSpPr/>
          <p:nvPr/>
        </p:nvSpPr>
        <p:spPr>
          <a:xfrm>
            <a:off x="9235440" y="13716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4" name="Shape 22"/>
          <p:cNvSpPr/>
          <p:nvPr/>
        </p:nvSpPr>
        <p:spPr>
          <a:xfrm>
            <a:off x="9692640" y="13716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49840" y="13716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07040" y="13716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64240" y="13716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21440" y="13716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29" name="Shape 27"/>
          <p:cNvSpPr/>
          <p:nvPr/>
        </p:nvSpPr>
        <p:spPr>
          <a:xfrm>
            <a:off x="7863840" y="18288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18288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31" name="Shape 29"/>
          <p:cNvSpPr/>
          <p:nvPr/>
        </p:nvSpPr>
        <p:spPr>
          <a:xfrm>
            <a:off x="8778240" y="18288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32" name="Shape 30"/>
          <p:cNvSpPr/>
          <p:nvPr/>
        </p:nvSpPr>
        <p:spPr>
          <a:xfrm>
            <a:off x="9235440" y="18288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3" name="Shape 31"/>
          <p:cNvSpPr/>
          <p:nvPr/>
        </p:nvSpPr>
        <p:spPr>
          <a:xfrm>
            <a:off x="9692640" y="18288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49840" y="18288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0" y="18288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64240" y="18288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1440" y="18288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0" y="22860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9" name="Shape 37"/>
          <p:cNvSpPr/>
          <p:nvPr/>
        </p:nvSpPr>
        <p:spPr>
          <a:xfrm>
            <a:off x="8321040" y="22860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0" name="Shape 38"/>
          <p:cNvSpPr/>
          <p:nvPr/>
        </p:nvSpPr>
        <p:spPr>
          <a:xfrm>
            <a:off x="8778240" y="22860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1" name="Shape 39"/>
          <p:cNvSpPr/>
          <p:nvPr/>
        </p:nvSpPr>
        <p:spPr>
          <a:xfrm>
            <a:off x="9235440" y="22860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42" name="Shape 40"/>
          <p:cNvSpPr/>
          <p:nvPr/>
        </p:nvSpPr>
        <p:spPr>
          <a:xfrm>
            <a:off x="9692640" y="22860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49840" y="22860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4" name="Shape 42"/>
          <p:cNvSpPr/>
          <p:nvPr/>
        </p:nvSpPr>
        <p:spPr>
          <a:xfrm>
            <a:off x="10607040" y="22860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64240" y="22860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6" name="Shape 44"/>
          <p:cNvSpPr/>
          <p:nvPr/>
        </p:nvSpPr>
        <p:spPr>
          <a:xfrm>
            <a:off x="11521440" y="22860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7" name="Shape 45"/>
          <p:cNvSpPr/>
          <p:nvPr/>
        </p:nvSpPr>
        <p:spPr>
          <a:xfrm>
            <a:off x="7863840" y="27432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48" name="Shape 46"/>
          <p:cNvSpPr/>
          <p:nvPr/>
        </p:nvSpPr>
        <p:spPr>
          <a:xfrm>
            <a:off x="8321040" y="2743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49" name="Shape 47"/>
          <p:cNvSpPr/>
          <p:nvPr/>
        </p:nvSpPr>
        <p:spPr>
          <a:xfrm>
            <a:off x="8778240" y="2743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50" name="Shape 48"/>
          <p:cNvSpPr/>
          <p:nvPr/>
        </p:nvSpPr>
        <p:spPr>
          <a:xfrm>
            <a:off x="9235440" y="27432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51" name="Shape 49"/>
          <p:cNvSpPr/>
          <p:nvPr/>
        </p:nvSpPr>
        <p:spPr>
          <a:xfrm>
            <a:off x="9692640" y="2743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49840" y="2743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53" name="Shape 51"/>
          <p:cNvSpPr/>
          <p:nvPr/>
        </p:nvSpPr>
        <p:spPr>
          <a:xfrm>
            <a:off x="10607040" y="2743200"/>
            <a:ext cx="82296" cy="82296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064240" y="2743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21440" y="2743200"/>
            <a:ext cx="82296" cy="82296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0 STRATEGIC SCREENING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008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UMC 東南亞擴張策略</a:t>
            </a:r>
            <a:endParaRPr lang="en-US" sz="4800" dirty="0"/>
          </a:p>
        </p:txBody>
      </p:sp>
      <p:sp>
        <p:nvSpPr>
          <p:cNvPr id="58" name="Text 56"/>
          <p:cNvSpPr/>
          <p:nvPr/>
        </p:nvSpPr>
        <p:spPr>
          <a:xfrm>
            <a:off x="64008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六國政府補助與稅務優惠評估 — 以 Singapore Fab 12i P3 為基準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58368" y="3886200"/>
            <a:ext cx="219456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核心判斷   </a:t>
            </a:r>
            <a:pPr indent="0" marL="0">
              <a:buNone/>
            </a:pPr>
            <a:r>
              <a:rPr lang="en-US" sz="16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優先執行 Singapore Fab 12i P3；其餘五國以條件式 watchlist 管理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 Chen  ·  2026 更新版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一句話結論：先做好新加坡，其他國家分級觀察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13232" cy="71323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0482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Singapore — Anchor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現有政策工具、R&amp;D 資金與高價值製造誘因可直接支撐 Fab 12i P3。視為 baseline，而非候選國。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5468112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E1F6F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54681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8C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最直接、最可信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55448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874520"/>
            <a:ext cx="713232" cy="71323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04825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7889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Malaysia — Top Watchlist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383280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NSS 與 OSAT / packaging 生態系最貼近 UMC 下游支援需求，但須驗證後才升級。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611880" y="5468112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FBF1E2"/>
          </a:solidFill>
          <a:ln/>
        </p:spPr>
      </p:sp>
      <p:sp>
        <p:nvSpPr>
          <p:cNvPr id="17" name="Text 13"/>
          <p:cNvSpPr/>
          <p:nvPr/>
        </p:nvSpPr>
        <p:spPr>
          <a:xfrm>
            <a:off x="3611880" y="54681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6A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最值得追蹤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55448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92240" y="1874520"/>
            <a:ext cx="713232" cy="71323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48256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27889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Thailand — Specialty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446520" y="3383280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Automotive / power / analog specialty 需求具策略觀察價值。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46520" y="5468112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FBF1E2"/>
          </a:solidFill>
          <a:ln/>
        </p:spPr>
      </p:sp>
      <p:sp>
        <p:nvSpPr>
          <p:cNvPr id="24" name="Text 19"/>
          <p:cNvSpPr/>
          <p:nvPr/>
        </p:nvSpPr>
        <p:spPr>
          <a:xfrm>
            <a:off x="6446520" y="54681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6A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Specialty watchlist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52560" y="1554480"/>
            <a:ext cx="2670048" cy="4480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26880" y="1874520"/>
            <a:ext cx="713232" cy="71323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2048256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81160" y="2788920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VN / PH / ID — Support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9281160" y="3383280"/>
            <a:ext cx="22128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後段、客戶支援、IC design 與長期政策訊號值得追蹤，但不足以單獨構成投資理由。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281160" y="5468112"/>
            <a:ext cx="2212848" cy="365760"/>
          </a:xfrm>
          <a:prstGeom prst="roundRect">
            <a:avLst>
              <a:gd name="adj" fmla="val 12500"/>
            </a:avLst>
          </a:prstGeom>
          <a:solidFill>
            <a:srgbClr val="EDEFF3"/>
          </a:solidFill>
          <a:ln/>
        </p:spPr>
      </p:sp>
      <p:sp>
        <p:nvSpPr>
          <p:cNvPr id="31" name="Text 25"/>
          <p:cNvSpPr/>
          <p:nvPr/>
        </p:nvSpPr>
        <p:spPr>
          <a:xfrm>
            <a:off x="9281160" y="546811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 / 長期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補助不創造需求 — 它只改善 economics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07008"/>
          </a:xfrm>
          <a:prstGeom prst="roundRect">
            <a:avLst>
              <a:gd name="adj" fmla="val 5303"/>
            </a:avLst>
          </a:prstGeom>
          <a:solidFill>
            <a:srgbClr val="1626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84248"/>
            <a:ext cx="621792" cy="62179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39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9280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C7C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補助改善的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846320" y="189280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稅率、credit、capex 回收速度與 R&amp;D 成本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064240" cy="1207008"/>
          </a:xfrm>
          <a:prstGeom prst="roundRect">
            <a:avLst>
              <a:gd name="adj" fmla="val 5303"/>
            </a:avLst>
          </a:prstGeom>
          <a:solidFill>
            <a:srgbClr val="16264A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3401568"/>
            <a:ext cx="621792" cy="62179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5570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3101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補助不能取代的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46320" y="331012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客戶需求、partner economics、power / water / talent、ROIC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4526280"/>
            <a:ext cx="11064240" cy="1207008"/>
          </a:xfrm>
          <a:prstGeom prst="roundRect">
            <a:avLst>
              <a:gd name="adj" fmla="val 5303"/>
            </a:avLst>
          </a:prstGeom>
          <a:solidFill>
            <a:srgbClr val="16264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818888"/>
            <a:ext cx="621792" cy="62179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9743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727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C6E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本文件的定位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846320" y="472744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0 公開政策訊號整理，不取代內部 ruling 與工程可行性 diligence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PORTFOLIO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六國總覽：對 UMC 的有用方向與初步評價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329184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國家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主要公開補助 / 優惠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對 UMC 最有用方向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初步評價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Singapore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PC / DEI、Refundable Investment Credit、S$800m 半導體 R&amp;D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Fab 12i P3、R&amp;D、高價值製造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最直接、最可信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Malaysia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National Semiconductor Strategy、RM25b、2026 新獎勵框架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Packaging / OSAT 生態系、partner watchlist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最值得追蹤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Thailand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BOI 半導體策略、power/analog、訓練補助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Automotive / power / analog specialty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specialty 策略價值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Vietnam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高科技 / 經濟區 CIT 優惠、tax holiday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EMS / testing / customer support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須驗證直接連動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Philippines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CREATE MORE Act、New Clark City AI hub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客戶支援、英語 account operations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偏支援性角色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Indonesia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Tax holiday / allowance、Danantara–Arm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IC design / talent / 長期市場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短期製造可行性低</a:t>
                      </a:r>
                      <a:endParaRPr lang="en-US" sz="115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  ·  ANCHOR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Singapore：主策略，不是候選國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0E1B33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管理判斷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Singapore 是 baseline / anchor，不應被視為普通候選國。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44348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資本效率優先：量產爬坡、客戶導入、稼動率、良率、折舊吸收與 ROIC。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26280" y="1627632"/>
            <a:ext cx="7086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929384"/>
            <a:ext cx="384048" cy="384048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303520" y="1737360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PC / DEI 稅務誘因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303520" y="2066544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EDB Pioneer Certificate 與 Development &amp; Expansion Incentive — 鼓勵新能力與高價值活動，符合者享免稅或優惠稅率。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26280" y="2743200"/>
            <a:ext cx="7086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3044952"/>
            <a:ext cx="384048" cy="384048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3044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03520" y="2852928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Refundable Investment Credit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03520" y="3182112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對合格投資支出給予可抵 corporate income tax 的 credit。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26280" y="3858768"/>
            <a:ext cx="7086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4160520"/>
            <a:ext cx="384048" cy="384048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03520" y="3968496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S$800m 半導體 R&amp;D（Budget 2026）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303520" y="4297680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投入半導體研發並設立 power electronics R&amp;D centre。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26280" y="4974336"/>
            <a:ext cx="70866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5276088"/>
            <a:ext cx="384048" cy="38404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0" y="5276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303520" y="5084064"/>
            <a:ext cx="6126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 UMC 的意義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303520" y="5413248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最直接支撐 Fab 12i P3、製程研發、高階 customer engineering 與區域製造能力。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  ·  TOP WATCHLIST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Malaysia：最重要的非新加坡選項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公開政策 / 補助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National Semiconductor Strategy — 至少 RM25b 政策支援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方向：enhanced OSAT、advanced packaging、IC design、高價值製造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New Incentive Framework — 製造業自 2026 Q1 起逐步實施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20240"/>
            <a:ext cx="566928" cy="566928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93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 UMC 的意義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6974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最有價值：Packaging / OSAT 生態系 watchlist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重點區域：Penang / Kulim 封測、生態系與工程人才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不等於 UMC 應立即自建 advanced packaging 廠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5600"/>
            </a:avLst>
          </a:prstGeom>
          <a:solidFill>
            <a:srgbClr val="0E1B3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3036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502920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A45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管理判斷：  </a:t>
            </a:r>
            <a:pPr indent="0" marL="0">
              <a:buNone/>
            </a:pPr>
            <a:r>
              <a:rPr lang="en-US" sz="15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除非 customer overlap、partner economics、政府 incentive package 與 ROIC 都被驗證，否則維持 conditional watchlist。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  ·  CONDITIONAL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其餘四國：功能性與長期觀察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2121408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65376"/>
            <a:ext cx="585216" cy="585216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Thailand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00200" y="22311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A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Specialty watchlist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BOI 半導體策略聚焦 power / sensors / photonics / analog。價值在 automotive、power、industrial、analog specialty demand 的 sales / customer coverage。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72768"/>
            <a:ext cx="5440680" cy="2121408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865376"/>
            <a:ext cx="585216" cy="585216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011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Vietnam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223760" y="22311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8C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後段 / 支援 watchlist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3796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高科技 / 經濟區 CIT 優惠、tax holiday；後段投資增加（Intel、Amkor 等）。較適合 EMS / testing、customer support。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877056"/>
            <a:ext cx="5440680" cy="2121408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169664"/>
            <a:ext cx="585216" cy="585216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3159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133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Philippines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00200" y="45354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支援性角色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14400" y="495604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CREATE MORE Act 強化 fiscal incentives；New Clark City AI / semiconductor hub。適合客戶支援、英語 account operations、供應鏈監測。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877056"/>
            <a:ext cx="5440680" cy="2121408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92240" y="4169664"/>
            <a:ext cx="585216" cy="585216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31596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23760" y="4133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Indonesia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223760" y="45354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長期 / 政策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37960" y="495604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大型投資 tax holiday / allowance；Danantara–Arm 推動本地 AI 與 chip design 人才。短期製造連動弱，屬 design / talent watchlist。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STRATEGIC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 Fab 12i 主線的相對相關性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16264A"/>
          </a:solidFill>
          <a:ln/>
        </p:spPr>
      </p:sp>
      <p:sp>
        <p:nvSpPr>
          <p:cNvPr id="6" name="Text 3"/>
          <p:cNvSpPr/>
          <p:nvPr/>
        </p:nvSpPr>
        <p:spPr>
          <a:xfrm>
            <a:off x="84582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C7C0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怎麼讀這張圖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200" y="242316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相對排序，非絕對分數。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Singapore 設為 100 = anchor 基準。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Malaysia 明顯領先其他四國。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排序反映與 Fab 12i 商業連動，非國家潛力。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三種商業模式：UMC 要參考誰、不要複製誰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777240" cy="77724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39696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TSMC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783080" y="2450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8C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Pure-play foundry 龍頭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090672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前段製造為核心，後段以 turnkey 外包給 Amkor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綁定標的是 CoWoS / InFO 等 AI / HPC 高階封裝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量價足以攤平 70 億美元級後段資本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627632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47672"/>
            <a:ext cx="777240" cy="77724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139696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Amkor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532120" y="2450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6A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全球最大美系 OSAT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63440" y="3090672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純後段 turnkey：封裝 + 測試服務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$7B Peoria（亞利桑那）封測 campus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同時服務 TSMC 與 Intel — 中立第三方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627632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1947672"/>
            <a:ext cx="777240" cy="77724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39696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20116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Intel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281160" y="2450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IDM + Foundry 雙身份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12480" y="3090672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Amkor 是客戶（EMIB 外包）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對外又是封裝競爭者（EMIB / Foveros）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advanced packaging 當 foundry 切入點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0E1B33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UMC 的啟示：  </a:t>
            </a:r>
            <a:pPr indent="0" marL="0">
              <a:buNone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TSMC–Amkor 的後段重綁定建立在 AI / HPC 量價之上；UMC 28/22nm 車用特殊製程量價不同，不該照抄 turnkey，而應前段深化 + 後段輕度協調。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NOT COPY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 UMC 不該照抄 TSMC–Amkor 後段重綁定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57600"/>
                <a:gridCol w="32004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關鍵維度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TSMC–Amkor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UMC 現況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含義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33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量價結構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CoWoS / InFO 高階封裝，單片價值與量體足以攤平 70 億美元級後段資本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28/22nm 車用特殊製程，封裝成熟、單價低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6A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turnkey 自建單位經濟跨不過門檻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政治溢價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賣「全美供應鏈、矽到封測不出境」，客戶是願付溢價的國防 / 政府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新馬區域沒有同等級政治溢價可收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6A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少了溢價來源，回報結構不同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客戶主導權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有議價權可硬推 turnkey；客戶接受度高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A355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純代工下封測選擇權在客戶手上，強推恐與既有 OSAT 關係衝突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6A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硬推 turnkey 反而降低客戶彈性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7778"/>
            </a:avLst>
          </a:prstGeom>
          <a:solidFill>
            <a:srgbClr val="0E1B33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  </a:t>
            </a:r>
            <a:pPr indent="0" marL="0">
              <a:buNone/>
            </a:pPr>
            <a:r>
              <a:rPr lang="en-US" sz="14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三個差異都對 UMC 不利。正解是把重資本投在自己有護城河的前段，後段用合約彈性而非股權綁定。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INTEL × 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Intel 目前的合作方式：同時是客戶，也是對手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703320"/>
          </a:xfrm>
          <a:prstGeom prst="roundRect">
            <a:avLst>
              <a:gd name="adj" fmla="val 1975"/>
            </a:avLst>
          </a:prstGeom>
          <a:solidFill>
            <a:srgbClr val="16264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713232" cy="71323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3055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11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身份一：Amkor 的客戶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83080" y="24505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Outsourced packaging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297180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首度把 EMIB 封裝外包給 Amkor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據點：南韓 Songdo、葡萄牙、亞利桑那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目的：快速擴產、避免晶圓出海做後段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440680" cy="3703320"/>
          </a:xfrm>
          <a:prstGeom prst="roundRect">
            <a:avLst>
              <a:gd name="adj" fmla="val 1975"/>
            </a:avLst>
          </a:prstGeom>
          <a:solidFill>
            <a:srgbClr val="16264A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965960"/>
            <a:ext cx="713232" cy="713232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1305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011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身份二：封裝市場競爭者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406640" y="24505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45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Intel Foundry packaging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83680" y="297180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EMIB / Foveros / EMIB-T 對外銷售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傳聞客戶：Google、Amazon（AI ASIC）</a:t>
            </a:r>
            <a:endParaRPr lang="en-US" sz="13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把封裝當 foundry 切入點，挑戰 CoWoS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8640" y="5486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資料：2025–2026 公開報導（Amkor IR、Intel Foundry、Tom's Hardware、DigiTimes 等）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PRECONDITIONS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UMC 東南亞擴張的前提要件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先前分析的核心結論：以新加坡為錨，前段深化、後段解耦但輕度協調。任何後段重綁定都須先通過三道驗證。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04288"/>
            <a:ext cx="603504" cy="603504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4597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762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｜ Anchor demand 驗證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532120" y="217627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既有客戶是否有具約束力的產能承諾（take-or-pay / capacity reservation）？沒有 anchor demand 就投產能，是 OSAT / 晶圓業最典型的價值陷阱。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832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675888"/>
            <a:ext cx="603504" cy="603504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8313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5478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 ｜ 單位經濟驗證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5532120" y="354787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在地化後的全成本（人力、稅務獎勵、物流、學習曲線）是否真的低於現有「台 / 星前段 + 既有封測」路徑？算出 break-even 良率與稼動率門檻。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5047488"/>
            <a:ext cx="603504" cy="603504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52029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9194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 ｜ 不可替代性（護城河）驗證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5532120" y="4919472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布局是否創造客戶難以複製的綜效（turnkey、地緣分散、節點對齊）？若客戶可輕易找其他 OSAT 達成同樣效果，則無護城河。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三點同時成立才算正確策略；任一不成立就該重新界定範圍。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EXPANSION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三層擴張做法 × Dashboard 的 Country × Mode 矩陣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0E1B33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第一層 · 核心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前段深化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1626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高信心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新加坡定位為台灣以外、China-free 的特殊製程第二中心（含 55nm BCD）。重資本投在自己最有護城河的前段。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第二層 · 協調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後段輕度協同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617720" y="288036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8803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中信心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不出資、不合資；與區域 OSAT 建立製程界面預先對接、FA 協同與優選名單。拿週期縮短的好處，不背重資本。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661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第三層 · 選擇權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局部後段投入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366760" y="2880360"/>
            <a:ext cx="1737360" cy="329184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88036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67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 · 需驗證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66760" y="338328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僅在單一車用大客戶給 take-or-pay 等級承諾、且量價足夠時才啟動。是 option，不是 base case。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EAEFF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38928"/>
            <a:ext cx="502920" cy="5029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600200" y="489204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對應 Dashboard：  </a:t>
            </a:r>
            <a:pPr indent="0" marL="0">
              <a:buNone/>
            </a:pPr>
            <a:r>
              <a:rPr lang="en-US" sz="1300" dirty="0">
                <a:solidFill>
                  <a:srgbClr val="4451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你的 Country × Mode 矩陣與 commitment-intensity 光譜，正好把這三層映成「國家 × 投入強度」的決策格。建議把每格標上目前所處 Stage（0 篩選 / 1 diligence / 2 投資），讓政策與稅務優惠成為升級門檻，而非加分項。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Dashboard 變成 decision gate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27447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447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公開政策訊號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整理補助、稅務優惠與半導體政策 — 即本份篩選報告。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4216" y="3044952"/>
            <a:ext cx="402336" cy="4023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453128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2148840"/>
            <a:ext cx="822960" cy="82296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0"/>
          <p:cNvSpPr/>
          <p:nvPr/>
        </p:nvSpPr>
        <p:spPr>
          <a:xfrm>
            <a:off x="4773168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779008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79008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Diligence gate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18888" y="3246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政府 incentive package 明確、稅務條件可量化、客戶需求可驗證。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3044952"/>
            <a:ext cx="402336" cy="4023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357616" y="182880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77656" y="2148840"/>
            <a:ext cx="822960" cy="82296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0" name="Text 16"/>
          <p:cNvSpPr/>
          <p:nvPr/>
        </p:nvSpPr>
        <p:spPr>
          <a:xfrm>
            <a:off x="867765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9683496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2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683496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升級為投資案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723376" y="324612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通過 ROIC、partner economics、capex/opex、power/water/talent 後才升級。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E1B33"/>
          </a:solidFill>
          <a:ln/>
        </p:spPr>
      </p:sp>
      <p:sp>
        <p:nvSpPr>
          <p:cNvPr id="25" name="Text 21"/>
          <p:cNvSpPr/>
          <p:nvPr/>
        </p:nvSpPr>
        <p:spPr>
          <a:xfrm>
            <a:off x="914400" y="49834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原則：  </a:t>
            </a:r>
            <a:pPr indent="0" marL="0">
              <a:buNone/>
            </a:pPr>
            <a:r>
              <a:rPr lang="en-US" sz="150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只有在補助條件明確、稅務可量化、需求可驗證時，才把 watchlist 升級成投資案。補助只改善 economics，不創造需求。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DILIGENCE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升級為投資案前仍須驗證的條件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640080" cy="64008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214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29968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客戶需求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Fab 12i 客戶是否真的需要該國 support？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1645920"/>
            <a:ext cx="359359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1214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029968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Partner economics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45152" y="274320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合作方條件與 customer overlap 是否成立？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1584" y="1645920"/>
            <a:ext cx="359359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65960"/>
            <a:ext cx="640080" cy="64008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21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2029968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Power / 基礎建設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21624" y="274320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電力供應與穩定度能否支撐製造負載？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721608"/>
            <a:ext cx="359359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041648"/>
            <a:ext cx="640080" cy="64008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19709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105656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Water / 環境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68680" y="4818888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水資源、環境與營運條件是否充足？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5112" y="3721608"/>
            <a:ext cx="359359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041648"/>
            <a:ext cx="640080" cy="64008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19709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105656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Talent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645152" y="4818888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當地是否能支援 B2B foundry customer engineering？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01584" y="3721608"/>
            <a:ext cx="3593592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041648"/>
            <a:ext cx="640080" cy="640080"/>
          </a:xfrm>
          <a:prstGeom prst="ellipse">
            <a:avLst/>
          </a:prstGeom>
          <a:solidFill>
            <a:srgbClr val="0E1B3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19709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98864" y="4105656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ROIC / Capex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421624" y="4818888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1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稅務 ruling 與 incentive package 後的回報是否達標？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建議結論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713232" cy="713232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146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1640" y="24688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Singapore 優先於外部擴張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94436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公開政策與補助最能直接支撐既有 Fab 12i P3；先確保量產爬坡、稼動率、良率、折舊吸收與 ROIC。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813048"/>
            <a:ext cx="713232" cy="713232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813048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3767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Malaysia 為首要非新加坡 watchlist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4242816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OSAT / packaging 生態系最符合 Fab 12i 下游支援需求 — 條件式 option，非自動升級為投資建議。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5111496"/>
            <a:ext cx="713232" cy="713232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111496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506577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其餘國家維持分級觀察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5541264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FC6E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Thailand / Vietnam / Philippines / Indonesia 屬功能性或長期政策觀察，不足以單獨構成現階段外部擴張理由。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7C7C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主要資料來源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64592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Singapore EDB — Incentives &amp; Facilitation Programmes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0" y="1837944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9" name="Text 7"/>
          <p:cNvSpPr/>
          <p:nvPr/>
        </p:nvSpPr>
        <p:spPr>
          <a:xfrm>
            <a:off x="6739128" y="164592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IRAS — Refundable Investment Credit (RIC)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40864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32888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234086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Singapore EDB — Budget 2026, S$800m semiconductor R&amp;D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2340864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2532888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5" name="Text 13"/>
          <p:cNvSpPr/>
          <p:nvPr/>
        </p:nvSpPr>
        <p:spPr>
          <a:xfrm>
            <a:off x="6739128" y="2340864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MITI Malaysia — National Semiconductor Strategy (NSS)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227832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18" name="Text 16"/>
          <p:cNvSpPr/>
          <p:nvPr/>
        </p:nvSpPr>
        <p:spPr>
          <a:xfrm>
            <a:off x="1115568" y="303580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MIDA — New Incentive Framework (NIF)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035808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227832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1" name="Text 19"/>
          <p:cNvSpPr/>
          <p:nvPr/>
        </p:nvSpPr>
        <p:spPr>
          <a:xfrm>
            <a:off x="6739128" y="303580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Vietnam Law Magazine — Revised CIT tech-sector incentives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922776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4" name="Text 22"/>
          <p:cNvSpPr/>
          <p:nvPr/>
        </p:nvSpPr>
        <p:spPr>
          <a:xfrm>
            <a:off x="1115568" y="373075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Thailand BOI — Long-term semiconductor strategy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730752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3922776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27" name="Text 25"/>
          <p:cNvSpPr/>
          <p:nvPr/>
        </p:nvSpPr>
        <p:spPr>
          <a:xfrm>
            <a:off x="6739128" y="373075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Reuters — Thailand semiconductor &amp; electronics target (2026)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4617720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0" name="Text 28"/>
          <p:cNvSpPr/>
          <p:nvPr/>
        </p:nvSpPr>
        <p:spPr>
          <a:xfrm>
            <a:off x="1115568" y="442569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Philippines FIRB — CREATE MORE resources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4425696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617720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3" name="Text 31"/>
          <p:cNvSpPr/>
          <p:nvPr/>
        </p:nvSpPr>
        <p:spPr>
          <a:xfrm>
            <a:off x="6739128" y="442569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PNA — Philippines AI / semiconductor investment package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77240" y="5312664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6" name="Text 34"/>
          <p:cNvSpPr/>
          <p:nvPr/>
        </p:nvSpPr>
        <p:spPr>
          <a:xfrm>
            <a:off x="1115568" y="51206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PwC Indonesia — Corporate tax credits &amp; incentives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5120640"/>
            <a:ext cx="54406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E1B33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5312664"/>
            <a:ext cx="182880" cy="182880"/>
          </a:xfrm>
          <a:prstGeom prst="ellipse">
            <a:avLst/>
          </a:prstGeom>
          <a:solidFill>
            <a:srgbClr val="37C7C0"/>
          </a:solidFill>
          <a:ln/>
        </p:spPr>
      </p:sp>
      <p:sp>
        <p:nvSpPr>
          <p:cNvPr id="39" name="Text 37"/>
          <p:cNvSpPr/>
          <p:nvPr/>
        </p:nvSpPr>
        <p:spPr>
          <a:xfrm>
            <a:off x="6739128" y="51206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55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Arm Newsroom — Danantara Indonesia partnership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Stage 0 strategic screening reference — 不取代 UMC 內部 ROIC、稅務 ruling、incentive package 與工程可行性 diligence。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UMC 東南亞擴張策略</dc:title>
  <dc:subject>PptxGenJS Presentation</dc:subject>
  <dc:creator>Max Chen</dc:creator>
  <cp:lastModifiedBy>Max Chen</cp:lastModifiedBy>
  <cp:revision>1</cp:revision>
  <dcterms:created xsi:type="dcterms:W3CDTF">2026-06-23T23:34:18Z</dcterms:created>
  <dcterms:modified xsi:type="dcterms:W3CDTF">2026-06-23T23:34:18Z</dcterms:modified>
</cp:coreProperties>
</file>