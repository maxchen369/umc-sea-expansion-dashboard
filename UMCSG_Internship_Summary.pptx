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5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3C5D"/>
                </a:solidFill>
                <a:latin typeface="Calibri"/>
              </a:rPr>
              <a:t>Illustrative all-in spread (bps)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All-in spread (bps)</c:v>
                </c:pt>
              </c:strCache>
            </c:strRef>
          </c:tx>
          <c:spPr>
            <a:solidFill>
              <a:srgbClr val="1D78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Bank A</c:v>
                  </c:pt>
                  <c:pt idx="1">
                    <c:v>Bank B</c:v>
                  </c:pt>
                  <c:pt idx="2">
                    <c:v>Bank C</c:v>
                  </c:pt>
                  <c:pt idx="3">
                    <c:v>Bank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88</c:v>
                </c:pt>
                <c:pt idx="2">
                  <c:v>105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E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75"/>
        </c:scaling>
        <c:delete val="0"/>
        <c:axPos val="l"/>
        <c:majorGridlines>
          <c:spPr>
            <a:ln w="12700" cap="flat">
              <a:solidFill>
                <a:srgbClr val="E4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E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029200" cy="502920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Treasury, Corporate Finance &amp;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FinTech Initiatives at UMCSG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workstreams across cash management, fundraising, green finance, regional strategy, and AI-driven tax support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Max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Workstreams This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493776" cy="49377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568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8366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weekly reporting and group cash mobilization for UMCSG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62656"/>
            <a:ext cx="493776" cy="493776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626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88950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Fundraising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Multi-bank RFQ — comparing process and all-in cost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968496"/>
            <a:ext cx="493776" cy="49377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9684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89534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Funding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224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bonds &amp; other channels — cost of capital and fund 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78308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1956816"/>
            <a:ext cx="493776" cy="49377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19568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188366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Expansion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2212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UMCSG's growth options across Southeast Asia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27889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56248" y="2962656"/>
            <a:ext cx="493776" cy="493776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29626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69480" y="288950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UGPT + RAG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6948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AI to answer GST and tax questions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029200" cy="502920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UMCSG Treasury Function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group informed and its cash working — daily reporting and liquidity mobilization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TREASURY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&amp; Weekly Reporting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reporting cadence gives management a live view of the group's cash position, exposures, and near-term funding needs.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974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D787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Report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balances by entity &amp; bank, FX positions, and the day's inflows/outflows — circulated each morning.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6974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Report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40690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liquidity outlook, funding gaps, and upcoming settlements consolidated for management review.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37744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26974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4964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Owned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49640" y="40690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pull from bank portals, reconciliation, variance checks, and formatting the final report package.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faster, cleaner reporting means management decisions rest on same-day data.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TREASURY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Cash Mobilization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liquidity to where it is needed — while minimizing idle cash and external borrowing.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D7874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6888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4688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38728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246888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 surplus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9048" y="24688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37376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D7874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246888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deficit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97696" y="24688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36024" y="24688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36024" y="246888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/ repay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surplus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Intercompany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replaces costly external debt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4206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09160" y="4937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FX and transfer costs across entities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0" y="4206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0392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03920" y="4937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view of group liquidity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029200" cy="502920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Fundraising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multiple banks for quotes — then comparing process and true cost side by side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FUNDRAISING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Multi-Bank RFQ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013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ask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0" y="18288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tenor, currency and purpose agreed internally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566928" cy="566928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banks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94960" y="26974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RFQ to [4] relationship banks for indicative terms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66928" cy="566928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387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quotes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94960" y="35661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reference rate, fees, covenants, and timeline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389120"/>
            <a:ext cx="566928" cy="566928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4074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94960" y="44348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every offer on a common all-in cost basis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257800"/>
            <a:ext cx="566928" cy="566928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257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2760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94960" y="53035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cost, flexibility, and relationship value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FUNDRAISING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Process &amp; Cost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6751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920240"/>
                <a:gridCol w="1371600"/>
                <a:gridCol w="100584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Fees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[SOFR + 95bps]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[0.15%]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[SOFR + 88bps]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[0.20%]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[SOFR + 105bps]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[0.10%]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[SOFR + 92bps]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[0.25%]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828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35240" y="22860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headline rate ≠ lowest cost.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fees, drawdown flexibility, and execution speed shift the real ranking once quotes are put on a common all-in basis.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498080" y="37490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 — replace with your actual quotes.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029200" cy="502920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Funding: Green Bonds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green and sustainability-linked channels — what they cost, and how the money flows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ALTERNATIVE FUNDING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Green Bonds Fit a Fab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manufacturing is energy- and water-intensive — capex on efficiency, renewables, and water recycling maps naturally to eligible green projects.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34640"/>
            <a:ext cx="640080" cy="640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Eligible Uses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tools, renewable PPAs, water reclamation, green buildings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5146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834640"/>
            <a:ext cx="640080" cy="64008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Demand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114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broader, ESG-mandated buyer base can deepen and diversify the order book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283464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Needed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9640" y="4114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bond framework + second-party opinion + annual impact reporting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ALTERNATIVE FUNDING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Capital: The Greenium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“Greenium”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yield discount green bonds price at versus a comparable conventional bond. It has narrowed as the market matured.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8.8 bps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over the last 5 years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7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14 bps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3703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pre-2018, when green bonds were scarce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667512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983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B3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3 bps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0" y="4846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cost from SPO &amp; structuring fees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35240" y="2560320"/>
            <a:ext cx="3886200" cy="3429000"/>
          </a:xfrm>
          <a:prstGeom prst="roundRect">
            <a:avLst>
              <a:gd name="adj" fmla="val 2133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UMCSG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63840" y="33375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pricing benefit is small and no longer guaranteed.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case is strategic: investor diversification, ESG signaling, and alignment with group sustainability targets — not a few basis points of savings.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ALTERNATIVE FUNDING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Money Flows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financing carries a traceability obligation — proceeds must be ring-fenced, allocated to eligible projects, and reported.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517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06624" y="265176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62072" y="265176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1D7874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26517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Proceeds to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ring-fenced account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928616" y="265176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84064" y="265176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1B998B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4064" y="26517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Allocate to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eligible projects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50608" y="265176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06056" y="265176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1D7874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06056" y="26517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spend &amp;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372600" y="265176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28048" y="265176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28048" y="265176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709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discipline: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45720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general-purpose loan, green proceeds cannot be swept freely into the group cash pool — they stay earmarked until deployed, which shapes how treasury manages that liquidity.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029200" cy="502920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Southeast Asia Expansion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could UMCSG grow next — screening candidate markets on a common framework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REGIONAL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Markets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D787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65960" y="20391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Malaysia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65960" y="2468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semiconductor cluster (Penang/Kulim), strong supply chain, talent pool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031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35240" y="20391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Vietnam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35240" y="2468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electronics FDI, competitive costs, expanding incentive schemes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7947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0B3C5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94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65960" y="3730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965960" y="4160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&amp; electronics base, government push into advanced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7947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E4B36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94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35240" y="3730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Indonesia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35240" y="4160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domestic market and resources, earlier-stage semiconductor ecosystem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REGIONAL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market scored on the drivers that matter for a fab investment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60320"/>
            <a:ext cx="365760" cy="36576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Ecosystem  </a:t>
            </a:r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Skilled engineers and a mature supplier base nearby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2560320"/>
            <a:ext cx="365760" cy="36576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23774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&amp; Tax  </a:t>
            </a:r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Grants, tax holidays, and the effective cost of setup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401568"/>
            <a:ext cx="365760" cy="36576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</a:t>
            </a:r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Reliable power, water, and logistics for 24/7 fabs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218688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0528" y="3401568"/>
            <a:ext cx="365760" cy="36576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21868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 </a:t>
            </a:r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Proximity to customers and free-trade coverage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4242816"/>
            <a:ext cx="365760" cy="36576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05993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&amp; FX Risk  </a:t>
            </a:r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Policy stability and currency exposure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4059936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10528" y="4242816"/>
            <a:ext cx="365760" cy="36576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05993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Base  </a:t>
            </a:r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Land, labor, and utilities on a total-cost view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view: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and Vietnam screen strongest on ecosystem and cost — candidates for a deeper feasibility study.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029200" cy="502920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B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UGPT + RAG for Tax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company's AI assistant reliable, source-grounded answers on GST and tax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UGPT +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Answers with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LLM guesses on tax questions and can't cite a source. Retrieval-Augmented Generation (RAG) grounds each answer in the actual tax documents.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06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asks a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question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91840" y="260604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D7874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606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relevant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tax-doc passages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26480" y="260604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B998B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606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drafts answer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passages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61120" y="2606040"/>
            <a:ext cx="182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26060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4B363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6060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answer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citations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5445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0017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IRAS e-Tax guides, GST Act, internal tax memos — chunked and embedded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434340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45445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50017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surfaces the passages most relevant to the query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0" y="434340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03920" y="45445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03920" y="50017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only from retrieved text, with links back to the source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UGPT +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Use Case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 we self-account for GST on imported IT services from an overseas vendor?”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answer: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under the reverse-charge rules, the Singapore entity accounts for 9% GST as output tax on imported services, then claims it back as input tax to the extent used for taxable supplies.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IRAS Reverse Charge e-Tax Guide (cited inline).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167128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1965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35000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tie to the current 9% rate and live guidance, not stale training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2004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32004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3584448"/>
            <a:ext cx="502920" cy="50292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3383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7673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 citation the tax team can verify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6177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6177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5001768"/>
            <a:ext cx="502920" cy="50292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001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4800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51846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GST questions resolved in seconds, freeing the tax team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7568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B3C5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756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 runs on trusted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3500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daily/weekly reporting and cash mobilization are the backbone of every funding decision.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07568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D7874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0756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1965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true cost, not headlines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23500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quotes only compare once normalized to an all-in basis across fees, speed, and flexibility.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44728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4472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3375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finance is strategic, not cheap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37216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greenium is thin — the real value is investor diversification and ESG alignment.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1546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344728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4B363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34472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33375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needs a common lens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37216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scoring framework turns country options into a defensible recommendation.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76200" dist="25400" dir="5400000">
              <a:srgbClr val="9BB0BD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81888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B3C5D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8188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4709160"/>
            <a:ext cx="9829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only as good as its grounding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5093208"/>
            <a:ext cx="9829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makes UGPT's tax answers accurate and citable — essential for anything compliance-related.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013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reporting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0" y="18288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data pulls with scheduled feeds from bank portals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670048"/>
            <a:ext cx="566928" cy="566928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70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6883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RFQ template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27157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all-in cost comparison model for future financings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557016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57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753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green framework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360273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eligible projects and second-party-opinion requirements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443984"/>
            <a:ext cx="566928" cy="566928"/>
          </a:xfrm>
          <a:prstGeom prst="ellipse">
            <a:avLst/>
          </a:prstGeom>
          <a:solidFill>
            <a:srgbClr val="E4B36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439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4622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SE Asia study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0" y="44897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feasibility on the two shortlisted markets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330952"/>
            <a:ext cx="566928" cy="566928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30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349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UGPT scope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0" y="537667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RAG beyond GST to corporate tax and transfer pricing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486400" cy="5486400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-1371600"/>
            <a:ext cx="3200400" cy="32004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41248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take questions on any of the five workstreams.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·  UMCSG Internship  ·  July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2026-07-25T16:37:17Z</dcterms:created>
  <dcterms:modified xsi:type="dcterms:W3CDTF">2026-07-25T16:37:17Z</dcterms:modified>
</cp:coreProperties>
</file>