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65760"/>
            <a:ext cx="3657600" cy="36576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1463040"/>
            <a:ext cx="2011680" cy="201168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集團財務 ‧ 跨境資金安排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台灣總部 → 新加坡分公司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資金往來：轉貸 vs 直接撥付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從法律、稅務、成本三個角度的完整比較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情境：UMCSG 為新加坡分公司（PE，無獨立法人格）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6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 年 6 月　‧　內部報告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同一筆錢到新加坡，兩種送法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不論總部用什麼工具募資（發債、CB、自有資金），錢要從台灣到新加坡分公司，只有兩種法律形式。這個選擇，決定了稅負、合規與成本。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670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轉貸  </a:t>
            </a:r>
            <a:pPr indent="0" marL="0">
              <a:buNone/>
            </a:pPr>
            <a:r>
              <a:rPr lang="en-US" sz="1300" i="1" dirty="0">
                <a:solidFill>
                  <a:srgbClr val="E8EE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Inter-company Loan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總部「借」錢給分公司，設定借款合約、利率、還款義務。分公司付利息回總部。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5029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核心差異：</a:t>
            </a:r>
            <a:pPr indent="0" marL="0">
              <a:buNone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有利息 → 有稅務後果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28600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1F7A4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670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直接撥付  </a:t>
            </a:r>
            <a:pPr indent="0" marL="0">
              <a:buNone/>
            </a:pPr>
            <a:r>
              <a:rPr lang="en-US" sz="1300" i="1" dirty="0">
                <a:solidFill>
                  <a:srgbClr val="E8EE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Head Office Funding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29400" y="3429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總部把錢「撥」給分公司當營運／資本資金。無借貸、無利率、無還款。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5029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核心差異：</a:t>
            </a:r>
            <a:pPr indent="0" marL="0">
              <a:buNone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無利息 → 稅務單純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台灣總部 → 新加坡分公司：轉貸 vs 直撥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ANGLE 1 — LEGAL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法律角度：借貸關係 vs 內部調撥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關鍵前提：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分公司無獨立法人格，與總部是「同一法人」。所以「借給自己」在法律上是擬制的，而「撥給自己」才是本質。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法律面向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方式 A：轉貸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方式 B：直接撥付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法律性質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擬制之集團內借款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同一法人內部資金調撥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借款合約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770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約定利率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770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有（須常規）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還款義務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770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會計科目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應收/應付關係人借款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總分支往來（Head Office A/C）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整體財報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內部利息沖銷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本金沖銷、淨額為零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法源（直撥有正面依據，非灰色地帶）：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所得稅法 §3：總分機構合併課稅、同一主體；② 營所稅查核準則：明文容許「總公司供應分公司營業資金，未由分公司計付利息」。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台灣總部 → 新加坡分公司：轉貸 vs 直撥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ANGLE 2 — TAX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稅務角度：三筆稅 vs 零稅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轉貸因為「有利息」，牽動三筆稅；直撥因為「無利息」，全部消失。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稅務項目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方式 A：轉貸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方式 B：直接撥付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跨境外人稅 WHT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23A2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15%（利息付回總部觸發）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無（無利息給付）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台灣端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9770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總部收利息 → 課 20% 所得稅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無利息收入 → 不課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新加坡端稅盾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利息費用抵 17%（有稅盾）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無利息費用（無稅盾）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移轉訂價 / AOA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23A2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適用；須備 TP 報告、常規利率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不適用（非受控借貸）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s13(4) 豁免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9770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須逐案申請，且要件嚴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不需要（本就不課）</a:t>
                      </a:r>
                      <a:endParaRPr lang="en-US" sz="12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法源：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新加坡《所得稅法》s45 — WHT 之標的為「與借貸/債務有關之給付」；無借貸即無標的，非「申請豁免」，而是「本就不在課稅範圍」。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台灣總部 → 新加坡分公司：轉貸 vs 直撥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ANGLE 3 —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成本角度：轉貸的隱藏稅負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以借 100 元、常規轉貸利率 2.1% 示意。轉貸看似有稅盾，但 WHT 與台灣課稅合計，往往超過稅盾。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485900" cy="2286000"/>
          </a:xfrm>
          <a:prstGeom prst="roundRect">
            <a:avLst>
              <a:gd name="adj" fmla="val 4923"/>
            </a:avLst>
          </a:prstGeom>
          <a:solidFill>
            <a:srgbClr val="E3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304288"/>
            <a:ext cx="13944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SG 利息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999232"/>
            <a:ext cx="1394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+0.357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950208"/>
            <a:ext cx="1394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2.1×17%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00300" y="2148840"/>
            <a:ext cx="1485900" cy="2286000"/>
          </a:xfrm>
          <a:prstGeom prst="roundRect">
            <a:avLst>
              <a:gd name="adj" fmla="val 4923"/>
            </a:avLst>
          </a:prstGeom>
          <a:solidFill>
            <a:srgbClr val="F8E6E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46020" y="2304288"/>
            <a:ext cx="13944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外人稅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46020" y="2999232"/>
            <a:ext cx="1394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3A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−0.315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46020" y="3950208"/>
            <a:ext cx="1394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2.1×15%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2148840"/>
            <a:ext cx="1485900" cy="2286000"/>
          </a:xfrm>
          <a:prstGeom prst="roundRect">
            <a:avLst>
              <a:gd name="adj" fmla="val 4923"/>
            </a:avLst>
          </a:prstGeom>
          <a:solidFill>
            <a:srgbClr val="F8E6E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2304288"/>
            <a:ext cx="13944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台灣課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利息收入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2999232"/>
            <a:ext cx="1394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3A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−0.420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06240" y="3950208"/>
            <a:ext cx="1394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2.1×20%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20740" y="2148840"/>
            <a:ext cx="1485900" cy="2286000"/>
          </a:xfrm>
          <a:prstGeom prst="roundRect">
            <a:avLst>
              <a:gd name="adj" fmla="val 4923"/>
            </a:avLst>
          </a:prstGeom>
          <a:solidFill>
            <a:srgbClr val="F5D9D4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66460" y="2304288"/>
            <a:ext cx="13944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轉貸淨稅負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66460" y="2999232"/>
            <a:ext cx="1394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3A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−0.378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66460" y="3950208"/>
            <a:ext cx="1394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倒貼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0" y="214884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E3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直接撥付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0" y="2788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777240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無利息 → 無 WHT、無台灣課稅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70916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FBEFD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86460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B977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為何轉貸會倒貼？關鍵在「總部有沒有利息費用可沖銷」。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總部收分公司利息（2.1%）是應稅收入。若總部本身有等額利息費用（如普通債），可沖銷、只課 margin；但若總部用 CB（票面 0%）或自有資金，沒有費用可沖銷 → 那 2.1% 全額課台灣 20%，加上 WHT，遠超過 SG 稅盾。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台灣總部 → 新加坡分公司：轉貸 vs 直撥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什麼時候用轉貸？什麼時候用直撥？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轉貸不是全錯——它的價值在「創造新加坡稅盾」。關鍵是總部的資金來源有沒有利息費用可沖銷。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27432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轉貸可考慮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總部以「普通公司債」募資（有利息費用可沖銷），且新加坡有足夠應稅利潤需要 17% 稅盾，並能承擔 WHT 或爭取 s13(4) 豁免、備妥移轉訂價文據。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148840"/>
            <a:ext cx="5257800" cy="2743200"/>
          </a:xfrm>
          <a:prstGeom prst="roundRect">
            <a:avLst>
              <a:gd name="adj" fmla="val 3000"/>
            </a:avLst>
          </a:prstGeom>
          <a:solidFill>
            <a:srgbClr val="E3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直撥較適合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29400" y="29718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總部以「CB（0%）」或「自有資金」出資（無利息費用可沖銷），或資金屬資本性投入（建廠）、追求合規單純、避免 WHT 與移轉訂價爭議。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F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9A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一句話：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有利息費用可沖銷 → 轉貸的稅盾划算；無利息費用（CB／自有資金）→ 直撥，別轉貸。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台灣總部 → 新加坡分公司：轉貸 vs 直撥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RED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最大的紅線：實質重於形式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直撥要成立，形式與實質必須一致。稅局看的是行為，不是標籤。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5166360" cy="2194560"/>
          </a:xfrm>
          <a:prstGeom prst="roundRect">
            <a:avLst>
              <a:gd name="adj" fmla="val 3750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錢不能來回跑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37490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撥出後短期內匯回，會被重新定性為借貸並追徵 WHT。錢要真的留在新加坡投入營運。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971800"/>
            <a:ext cx="5166360" cy="2194560"/>
          </a:xfrm>
          <a:prstGeom prst="roundRect">
            <a:avLst>
              <a:gd name="adj" fmla="val 3750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帳上不能有借貸痕跡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37490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科目、文件不得出現借款合約、利率、還款計畫。兩邊帳務科目須一致（總分支往來）。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D9A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教訓：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先前綠債案被課 WHT，正是因為資金進入新加坡後短期回流，行為像借貸。直撥的成敗，繫於「錢真的留下來」。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一頁總結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51960"/>
                <a:gridCol w="4251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角度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轉貸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直接撥付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法律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擬制借款，有合約/利率/還款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內部調撥，法源明確（§3、查核準則）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WHT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15%（觸發）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移轉訂價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770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適用（要 TP 文據）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不適用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SG 稅盾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有（17%）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淨稅負（示意）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倒貼 0.378（無利息費用時）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適用時機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普通債募資＋SG 需稅盾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CB／自有資金；資本投入；求單純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核心結論：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「用什麼工具募資」與「錢怎麼過去」是兩件事。轉貸的稅盾只有在總部有利息費用可沖銷時才划算；否則直撥更省、更單純、更安全。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台灣總部 → 新加坡分公司：轉貸 vs 直撥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NOTES &amp;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附註與資料來源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計算基礎：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 100 元、常規轉貸利率 2.1% 示意。轉貸淨稅負 = SG 稅盾 0.357 − WHT 0.315 − 台灣課利息收入 0.420 = −0.378（此為「總部無利息費用可沖銷」之情境，如 CB／自有資金）。若總部有等額利息費用（普通債），台灣端僅就 margin 課稅，結果不同。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主要法源：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所得稅法 §3（總分機構合併課稅）；營利事業所得稅查核準則（總公司供應分公司資金未計息之規定）；新加坡《所得稅法 1947》s45（WHT 標的為與借貸有關之給付）；IRAS — Payments subject to withholding tax；OECD AOA（PE 利潤歸屬與自由資本）；營利事業所得稅不合常規移轉訂價查核準則（資金之使用）。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免責：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本文為內部分析與教育用途，非稅務或法律意見；實際適用須經稅務顧問與律師確認。金額為示意。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台灣總部 → 新加坡分公司：轉貸 vs 直撥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台灣總部→新加坡分公司資金往來：轉貸 vs 直撥</dc:title>
  <dc:subject>PptxGenJS Presentation</dc:subject>
  <dc:creator>UMC Finance</dc:creator>
  <cp:lastModifiedBy>UMC Finance</cp:lastModifiedBy>
  <cp:revision>1</cp:revision>
  <dcterms:created xsi:type="dcterms:W3CDTF">2026-07-20T02:58:55Z</dcterms:created>
  <dcterms:modified xsi:type="dcterms:W3CDTF">2026-07-20T02:58:55Z</dcterms:modified>
</cp:coreProperties>
</file>