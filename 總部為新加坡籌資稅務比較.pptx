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淨稅盾</c:v>
                </c:pt>
              </c:strCache>
            </c:strRef>
          </c:tx>
          <c:spPr>
            <a:solidFill>
              <a:srgbClr val="21295C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2B3640"/>
                    </a:solidFill>
                    <a:latin typeface="Noto Sans CJK T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1295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E2C6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7A4A1E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方式三
SG 銀行</c:v>
                  </c:pt>
                  <c:pt idx="1">
                    <c:v>方式四
借款台+撥自有</c:v>
                  </c:pt>
                  <c:pt idx="2">
                    <c:v>方式一
HQ 轉貸</c:v>
                  </c:pt>
                  <c:pt idx="3">
                    <c:v>方式二
HQ 增資</c:v>
                  </c:pt>
                  <c:pt idx="4">
                    <c:v>方式五
台灣 CB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</c:v>
                </c:pt>
                <c:pt idx="1">
                  <c:v>20</c:v>
                </c:pt>
                <c:pt idx="2">
                  <c:v>5</c:v>
                </c:pt>
                <c:pt idx="3">
                  <c:v>0</c:v>
                </c:pt>
                <c:pt idx="4">
                  <c:v>0.3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400" u="none">
                  <a:solidFill>
                    <a:srgbClr val="2B3640"/>
                  </a:solidFill>
                  <a:latin typeface="Noto Sans CJK T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B"/>
                </a:solidFill>
                <a:latin typeface="Noto Sans CJK T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4"/>
          <c:min val="0"/>
        </c:scaling>
        <c:delete val="0"/>
        <c:axPos val="l"/>
        <c:majorGridlines>
          <c:spPr>
            <a:ln w="6350" cap="flat">
              <a:solidFill>
                <a:srgbClr val="E6ECF2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B"/>
                </a:solidFill>
                <a:latin typeface="Noto Sans CJK T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稅後成本</c:v>
                </c:pt>
              </c:strCache>
            </c:strRef>
          </c:tx>
          <c:spPr>
            <a:solidFill>
              <a:srgbClr val="1F7A4D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2B3640"/>
                    </a:solidFill>
                    <a:latin typeface="Noto Sans CJK T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7A4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23A2E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方式三
SG 銀行借款</c:v>
                  </c:pt>
                  <c:pt idx="1">
                    <c:v>方式一
轉貸(豁免成功)</c:v>
                  </c:pt>
                  <c:pt idx="2">
                    <c:v>方式一
轉貸(豁免失敗)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0.868</c:v>
                </c:pt>
                <c:pt idx="1">
                  <c:v>1.28</c:v>
                </c:pt>
                <c:pt idx="2">
                  <c:v>1.52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400" u="none">
                  <a:solidFill>
                    <a:srgbClr val="2B3640"/>
                  </a:solidFill>
                  <a:latin typeface="Noto Sans CJK T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B"/>
                </a:solidFill>
                <a:latin typeface="Noto Sans CJK T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8"/>
          <c:min val="0"/>
        </c:scaling>
        <c:delete val="0"/>
        <c:axPos val="l"/>
        <c:majorGridlines>
          <c:spPr>
            <a:ln w="6350" cap="flat">
              <a:solidFill>
                <a:srgbClr val="E6EC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B"/>
                </a:solidFill>
                <a:latin typeface="Noto Sans CJK T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463040"/>
            <a:ext cx="5669280" cy="566928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182880"/>
            <a:ext cx="3840480" cy="3840480"/>
          </a:xfrm>
          <a:prstGeom prst="ellipse">
            <a:avLst/>
          </a:prstGeom>
          <a:solidFill>
            <a:srgbClr val="1C7293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515600" y="1371600"/>
            <a:ext cx="2194560" cy="2194560"/>
          </a:xfrm>
          <a:prstGeom prst="ellipse">
            <a:avLst/>
          </a:prstGeom>
          <a:solidFill>
            <a:srgbClr val="CADCFC">
              <a:alpha val="7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ADCF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集團財務 ‧ 跨境稅務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05740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總部為新加坡籌資之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731520" y="278892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稅務比較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731520" y="37033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五種籌資路徑 × 稅盾與外人稅的取捨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4526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6D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以聯電新加坡分公司（PE）為情境　|　</a:t>
            </a:r>
            <a:pPr indent="0" marL="0">
              <a:buNone/>
            </a:pPr>
            <a:r>
              <a:rPr lang="en-US" sz="1300" dirty="0">
                <a:solidFill>
                  <a:srgbClr val="9FB6D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稅盾與外人稅（WHT）之取捨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96B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2026 年 6 月　‧　內部報告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PROBLEM SETUP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5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問題設定：同一筆擴廠資金，五種籌資路徑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B36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聯電要為新加坡 Fab12i 擴廠籌措資金。錢可以從不同地方、用不同工具籌得，而每一種選擇的「稅盾效率」不同。本報告只聚焦籌資端的稅務比較。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130552" cy="3520440"/>
          </a:xfrm>
          <a:prstGeom prst="roundRect">
            <a:avLst>
              <a:gd name="adj" fmla="val 4292"/>
            </a:avLst>
          </a:prstGeom>
          <a:solidFill>
            <a:srgbClr val="F2F5F8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651760"/>
            <a:ext cx="713232" cy="71323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65176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777240" y="3520440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65A8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方式一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77240" y="3767328"/>
            <a:ext cx="1746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2B36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HQ 發債轉貸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77240" y="4526280"/>
            <a:ext cx="17099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B7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台灣發債，內部借款轉貸新加坡分公司。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880360" y="2377440"/>
            <a:ext cx="2130552" cy="3520440"/>
          </a:xfrm>
          <a:prstGeom prst="roundRect">
            <a:avLst>
              <a:gd name="adj" fmla="val 4292"/>
            </a:avLst>
          </a:prstGeom>
          <a:solidFill>
            <a:srgbClr val="F2F5F8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08960" y="2651760"/>
            <a:ext cx="713232" cy="7132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3108960" y="265176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3108960" y="3520440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C729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方式二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108960" y="3767328"/>
            <a:ext cx="1746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2B36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HQ 增資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3108960" y="4526280"/>
            <a:ext cx="17099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B7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股本挹注新加坡。無稅盾、稀釋 EPS。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212080" y="2377440"/>
            <a:ext cx="2130552" cy="3520440"/>
          </a:xfrm>
          <a:prstGeom prst="roundRect">
            <a:avLst>
              <a:gd name="adj" fmla="val 4292"/>
            </a:avLst>
          </a:prstGeom>
          <a:solidFill>
            <a:srgbClr val="F2F5F8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40680" y="2651760"/>
            <a:ext cx="713232" cy="713232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9" name="Text 17"/>
          <p:cNvSpPr/>
          <p:nvPr/>
        </p:nvSpPr>
        <p:spPr>
          <a:xfrm>
            <a:off x="5440680" y="265176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5440680" y="3520440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1295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方式三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440680" y="3767328"/>
            <a:ext cx="1746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2B36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SG 銀行借款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5440680" y="4526280"/>
            <a:ext cx="17099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B7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分公司向本地銀行借款（倚賴總部信用）。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543800" y="2377440"/>
            <a:ext cx="2130552" cy="3520440"/>
          </a:xfrm>
          <a:prstGeom prst="roundRect">
            <a:avLst>
              <a:gd name="adj" fmla="val 4292"/>
            </a:avLst>
          </a:prstGeom>
          <a:solidFill>
            <a:srgbClr val="F2F5F8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772400" y="2651760"/>
            <a:ext cx="713232" cy="713232"/>
          </a:xfrm>
          <a:prstGeom prst="ellipse">
            <a:avLst/>
          </a:prstGeom>
          <a:solidFill>
            <a:srgbClr val="3E2C66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0" y="265176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</a:t>
            </a:r>
            <a:endParaRPr lang="en-US" sz="2300" dirty="0"/>
          </a:p>
        </p:txBody>
      </p:sp>
      <p:sp>
        <p:nvSpPr>
          <p:cNvPr id="26" name="Text 24"/>
          <p:cNvSpPr/>
          <p:nvPr/>
        </p:nvSpPr>
        <p:spPr>
          <a:xfrm>
            <a:off x="7772400" y="3520440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3E2C6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方式四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772400" y="3767328"/>
            <a:ext cx="1746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2B36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借款台灣＋撥自有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7772400" y="4526280"/>
            <a:ext cx="17099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B7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借款掛台灣、自有資金撥 SG，脫鉤避 WHT。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875520" y="2377440"/>
            <a:ext cx="2130552" cy="3520440"/>
          </a:xfrm>
          <a:prstGeom prst="roundRect">
            <a:avLst>
              <a:gd name="adj" fmla="val 4292"/>
            </a:avLst>
          </a:prstGeom>
          <a:solidFill>
            <a:srgbClr val="F2F5F8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0104120" y="2651760"/>
            <a:ext cx="713232" cy="713232"/>
          </a:xfrm>
          <a:prstGeom prst="ellipse">
            <a:avLst/>
          </a:prstGeom>
          <a:solidFill>
            <a:srgbClr val="7A4A1E"/>
          </a:solidFill>
          <a:ln/>
        </p:spPr>
      </p:sp>
      <p:sp>
        <p:nvSpPr>
          <p:cNvPr id="31" name="Text 29"/>
          <p:cNvSpPr/>
          <p:nvPr/>
        </p:nvSpPr>
        <p:spPr>
          <a:xfrm>
            <a:off x="10104120" y="265176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5</a:t>
            </a:r>
            <a:endParaRPr lang="en-US" sz="2300" dirty="0"/>
          </a:p>
        </p:txBody>
      </p:sp>
      <p:sp>
        <p:nvSpPr>
          <p:cNvPr id="32" name="Text 30"/>
          <p:cNvSpPr/>
          <p:nvPr/>
        </p:nvSpPr>
        <p:spPr>
          <a:xfrm>
            <a:off x="10104120" y="3520440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7A4A1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方式五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0104120" y="3767328"/>
            <a:ext cx="1746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2B36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台灣可轉債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10104120" y="4526280"/>
            <a:ext cx="17099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B7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票面 0%、溢價發行。現金成本最低，但稅盾≈0。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總部為新加坡籌資之稅務比較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KEY 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5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先講觀念：什麼是「稅盾」，為什麼債優於股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65A8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稅盾（Tax Shield）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B36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＝ 一筆可以拿來抵稅的費用。利息是費用、可抵稅；股利是盈餘分配、不可抵稅。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5303520" cy="3566160"/>
          </a:xfrm>
          <a:prstGeom prst="roundRect">
            <a:avLst>
              <a:gd name="adj" fmla="val 2308"/>
            </a:avLst>
          </a:prstGeom>
          <a:solidFill>
            <a:srgbClr val="E3F2EA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54203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7A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債：利息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60120" y="3154680"/>
            <a:ext cx="4663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2B36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利息是營運費用</a:t>
            </a:r>
            <a:endParaRPr lang="en-US" sz="14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6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列入損益表、減少應稅利潤</a:t>
            </a:r>
            <a:endParaRPr lang="en-US" sz="14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6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產生稅盾，少繳稅</a:t>
            </a:r>
            <a:endParaRPr lang="en-US" sz="14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6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代價：可能觸發跨境扣繳稅（WHT）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2286000"/>
            <a:ext cx="5303520" cy="3566160"/>
          </a:xfrm>
          <a:prstGeom prst="roundRect">
            <a:avLst>
              <a:gd name="adj" fmla="val 2308"/>
            </a:avLst>
          </a:prstGeom>
          <a:solidFill>
            <a:srgbClr val="F2F5F8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37960" y="254203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B6B7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股：股利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537960" y="3154680"/>
            <a:ext cx="4663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2B36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股利是盈餘分配，不是費用</a:t>
            </a:r>
            <a:endParaRPr lang="en-US" sz="14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6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不能列費用、不減應稅利潤</a:t>
            </a:r>
            <a:endParaRPr lang="en-US" sz="14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6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沒有稅盾</a:t>
            </a:r>
            <a:endParaRPr lang="en-US" sz="14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6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且資金「黏著」，返還須減資程序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總部為新加坡籌資之稅務比較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OPTION 1 — AOA PRECISE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方式一：HQ 發債轉貸 — 加入 AOA 後的逐筆稅效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4475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B36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AOA 要求轉貸須加 margin，於是「一筆利息」拆成兩筆不同金額：</a:t>
            </a:r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B36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總部對外借 0.88%、轉貸給 SG 1.38%（＝0.88%＋50bps）。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1993392" cy="2468880"/>
          </a:xfrm>
          <a:prstGeom prst="roundRect">
            <a:avLst>
              <a:gd name="adj" fmla="val 3670"/>
            </a:avLst>
          </a:prstGeom>
          <a:solidFill>
            <a:srgbClr val="E3F2EA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331720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B36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台灣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B36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外部利息稅盾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3063240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7A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+0.176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31520" y="4114800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0.88×20%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62072" y="2148840"/>
            <a:ext cx="1993392" cy="2468880"/>
          </a:xfrm>
          <a:prstGeom prst="roundRect">
            <a:avLst>
              <a:gd name="adj" fmla="val 3670"/>
            </a:avLst>
          </a:prstGeom>
          <a:solidFill>
            <a:srgbClr val="E3F2EA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953512" y="2331720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B36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② SG 轉貸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B36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利息稅盾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53512" y="3063240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7A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+0.235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953512" y="4114800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1.38×17%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84064" y="2148840"/>
            <a:ext cx="1993392" cy="2468880"/>
          </a:xfrm>
          <a:prstGeom prst="roundRect">
            <a:avLst>
              <a:gd name="adj" fmla="val 3670"/>
            </a:avLst>
          </a:prstGeom>
          <a:solidFill>
            <a:srgbClr val="F8E6E3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175504" y="2331720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B36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③ 外人稅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B36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WHT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175504" y="3063240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23A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−0.207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175504" y="4114800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1.38×15%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06056" y="2148840"/>
            <a:ext cx="1993392" cy="2468880"/>
          </a:xfrm>
          <a:prstGeom prst="roundRect">
            <a:avLst>
              <a:gd name="adj" fmla="val 3670"/>
            </a:avLst>
          </a:prstGeom>
          <a:solidFill>
            <a:srgbClr val="F8E6E3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397496" y="2331720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B36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④ margin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B36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台灣課稅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97496" y="3063240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23A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−0.100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7397496" y="4114800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0.50×20%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528048" y="2148840"/>
            <a:ext cx="1993392" cy="2468880"/>
          </a:xfrm>
          <a:prstGeom prst="roundRect">
            <a:avLst>
              <a:gd name="adj" fmla="val 3670"/>
            </a:avLst>
          </a:prstGeom>
          <a:solidFill>
            <a:srgbClr val="CADCFC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619488" y="2331720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B36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淨效果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B36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(每 100 元)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19488" y="3063240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0.104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9619488" y="4114800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豁免失敗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493776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B9770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關鍵：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36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margin 是雙刃 —— 拉高它，SG 稅盾（②）變大，但 WHT（③）與 margin 在台灣的課稅（④）也同步變大。故有最適 margin，且須落在 IRAS 與台灣稅局都接受的常規區間。豁免成功時 ③ 歸零，淨效果升至 0.311／100。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" y="60533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數字以借 100 元、margin 50bps 示意；稅率：台灣 20%、SG 17%、WHT 15%。實際 margin 須依移轉訂價分析訂定。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總部為新加坡籌資之稅務比較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COMPARISON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5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五種籌資方式：稅務比較總表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8813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865376"/>
                <a:gridCol w="1865376"/>
                <a:gridCol w="1865376"/>
                <a:gridCol w="1865376"/>
                <a:gridCol w="1865376"/>
              </a:tblGrid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比較項目</a:t>
                      </a:r>
                      <a:endParaRPr lang="en-US" sz="115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方式一</a:t>
                      </a:r>
                      <a:endParaRPr lang="en-US" sz="115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HQ 轉貸</a:t>
                      </a:r>
                      <a:endParaRPr lang="en-US" sz="115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方式二</a:t>
                      </a:r>
                      <a:endParaRPr lang="en-US" sz="115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HQ 增資</a:t>
                      </a:r>
                      <a:endParaRPr lang="en-US" sz="115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方式三</a:t>
                      </a:r>
                      <a:endParaRPr lang="en-US" sz="115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SG 銀行借款</a:t>
                      </a:r>
                      <a:endParaRPr lang="en-US" sz="115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方式四</a:t>
                      </a:r>
                      <a:endParaRPr lang="en-US" sz="115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借款台+撥自有</a:t>
                      </a:r>
                      <a:endParaRPr lang="en-US" sz="115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2C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方式五</a:t>
                      </a:r>
                      <a:endParaRPr lang="en-US" sz="115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台灣發 CB</a:t>
                      </a:r>
                      <a:endParaRPr lang="en-US" sz="115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A1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B364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工具性質</a:t>
                      </a:r>
                      <a:endParaRPr lang="en-US" sz="115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364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債</a:t>
                      </a:r>
                      <a:endParaRPr lang="en-US" sz="115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364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股</a:t>
                      </a:r>
                      <a:endParaRPr lang="en-US" sz="115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364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債</a:t>
                      </a:r>
                      <a:endParaRPr lang="en-US" sz="115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364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債＋自有</a:t>
                      </a:r>
                      <a:endParaRPr lang="en-US" sz="115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364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可轉債</a:t>
                      </a:r>
                      <a:endParaRPr lang="en-US" sz="115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B364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利息抵稅</a:t>
                      </a:r>
                      <a:endParaRPr lang="en-US" sz="115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364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可</a:t>
                      </a:r>
                      <a:endParaRPr lang="en-US" sz="115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364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不可</a:t>
                      </a:r>
                      <a:endParaRPr lang="en-US" sz="115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364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可</a:t>
                      </a:r>
                      <a:endParaRPr lang="en-US" sz="115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364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可</a:t>
                      </a:r>
                      <a:endParaRPr lang="en-US" sz="115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23A2E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幾乎無</a:t>
                      </a:r>
                      <a:endParaRPr lang="en-US" sz="115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B364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跨境 WHT</a:t>
                      </a:r>
                      <a:endParaRPr lang="en-US" sz="115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364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15%／0%</a:t>
                      </a:r>
                      <a:endParaRPr lang="en-US" sz="115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7A4D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無</a:t>
                      </a:r>
                      <a:endParaRPr lang="en-US" sz="115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7A4D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無</a:t>
                      </a:r>
                      <a:endParaRPr lang="en-US" sz="115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7A4D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無</a:t>
                      </a:r>
                      <a:endParaRPr lang="en-US" sz="115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7A4D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無</a:t>
                      </a:r>
                      <a:endParaRPr lang="en-US" sz="115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B364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EPS 影響</a:t>
                      </a:r>
                      <a:endParaRPr lang="en-US" sz="115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7A4D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無</a:t>
                      </a:r>
                      <a:endParaRPr lang="en-US" sz="115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23A2E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稀釋</a:t>
                      </a:r>
                      <a:endParaRPr lang="en-US" sz="115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7A4D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無</a:t>
                      </a:r>
                      <a:endParaRPr lang="en-US" sz="115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7A4D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無</a:t>
                      </a:r>
                      <a:endParaRPr lang="en-US" sz="115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9770E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轉換後稀釋</a:t>
                      </a:r>
                      <a:endParaRPr lang="en-US" sz="115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B364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淨稅盾</a:t>
                      </a:r>
                      <a:endParaRPr lang="en-US" sz="115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65A82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5%~20%</a:t>
                      </a:r>
                      <a:endParaRPr lang="en-US" sz="115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5B6B7B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0%</a:t>
                      </a:r>
                      <a:endParaRPr lang="en-US" sz="115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7A4D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20%</a:t>
                      </a:r>
                      <a:endParaRPr lang="en-US" sz="115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7A4D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20%</a:t>
                      </a:r>
                      <a:endParaRPr lang="en-US" sz="115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5B6B7B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≈0%</a:t>
                      </a:r>
                      <a:endParaRPr lang="en-US" sz="115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B364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關鍵特性</a:t>
                      </a:r>
                      <a:endParaRPr lang="en-US" sz="115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364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WHT 視</a:t>
                      </a:r>
                      <a:endParaRPr lang="en-US" sz="115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364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豁免</a:t>
                      </a:r>
                      <a:endParaRPr lang="en-US" sz="115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364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稀釋＋</a:t>
                      </a:r>
                      <a:endParaRPr lang="en-US" sz="115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364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難增資</a:t>
                      </a:r>
                      <a:endParaRPr lang="en-US" sz="115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364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需總部</a:t>
                      </a:r>
                      <a:endParaRPr lang="en-US" sz="115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364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背書</a:t>
                      </a:r>
                      <a:endParaRPr lang="en-US" sz="115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364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需經濟</a:t>
                      </a:r>
                      <a:endParaRPr lang="en-US" sz="115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364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實質</a:t>
                      </a:r>
                      <a:endParaRPr lang="en-US" sz="115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364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現金成本</a:t>
                      </a:r>
                      <a:endParaRPr lang="en-US" sz="115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364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最低</a:t>
                      </a:r>
                      <a:endParaRPr lang="en-US" sz="115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05332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5B6B7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註：淨稅盾為 rate-level 快速對照。方式五 CB 票面 0%，幾無利息費用，稅盾≈0%（保守認定）——但其價值不在稅盾，而在現金成本最低、延後稀釋（見專頁）。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總部為新加坡籌資之稅務比較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NET TAX SHIELD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5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淨稅盾一覽：稅率級距比較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822960" y="1737360"/>
          <a:ext cx="667512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955280" y="1920240"/>
            <a:ext cx="3566160" cy="3840480"/>
          </a:xfrm>
          <a:prstGeom prst="roundRect">
            <a:avLst>
              <a:gd name="adj" fmla="val 2308"/>
            </a:avLst>
          </a:prstGeom>
          <a:solidFill>
            <a:srgbClr val="F2F5F8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0" y="217627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5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怎麼讀這張圖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0" y="2651760"/>
            <a:ext cx="3063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B36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稅盾越高 = 稅務效率越好。</a:t>
            </a:r>
            <a:endParaRPr lang="en-US" sz="1100" dirty="0"/>
          </a:p>
          <a:p>
            <a:pPr indent="0" marL="0">
              <a:lnSpc>
                <a:spcPct val="108000"/>
              </a:lnSpc>
              <a:spcAft>
                <a:spcPts val="500"/>
              </a:spcAft>
              <a:buNone/>
            </a:pPr>
            <a:endParaRPr lang="en-US" sz="1100" dirty="0"/>
          </a:p>
          <a:p>
            <a:pPr marL="342900" indent="-3429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B36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方式三、四（20%）：利息抵稅、無 WHT，並列最優。</a:t>
            </a:r>
            <a:endParaRPr lang="en-US" sz="1100" dirty="0"/>
          </a:p>
          <a:p>
            <a:pPr marL="342900" indent="-3429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B36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方式一（5%）：豁免失敗被 WHT 吃掉大半。</a:t>
            </a:r>
            <a:endParaRPr lang="en-US" sz="1100" dirty="0"/>
          </a:p>
          <a:p>
            <a:pPr marL="342900" indent="-3429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B36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方式二、五（≈0%）：增資無稅盾；CB 票面 0% 幾無利息費用。</a:t>
            </a:r>
            <a:endParaRPr lang="en-US" sz="1100" dirty="0"/>
          </a:p>
          <a:p>
            <a:pPr indent="0" marL="0">
              <a:lnSpc>
                <a:spcPct val="108000"/>
              </a:lnSpc>
              <a:spcAft>
                <a:spcPts val="500"/>
              </a:spcAft>
              <a:buNone/>
            </a:pPr>
            <a:endParaRPr lang="en-US" sz="1100" dirty="0"/>
          </a:p>
          <a:p>
            <a:pPr indent="0" marL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B9770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注意：CB 稅盾雖≈0，但現金成本最低 —— 它的價值不在這張圖的軸上。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總部為新加坡籌資之稅務比較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68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C729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THE REAL TRADE-OFF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稅盾高 ≠ 最划算：要看「稅盾 ＋ 資金成本」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214884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方式三稅盾（20%）遠高於方式一（5%），但它要付的是新加坡銀行利率；方式一靠的是台灣較低的發債成本。真正的決策是兩者相減後的淨成本。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2880360"/>
            <a:ext cx="4983480" cy="2514600"/>
          </a:xfrm>
          <a:prstGeom prst="roundRect">
            <a:avLst>
              <a:gd name="adj" fmla="val 3273"/>
            </a:avLst>
          </a:prstGeom>
          <a:solidFill>
            <a:srgbClr val="065A82">
              <a:alpha val="7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31089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方式一　HQ 發債轉貸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51560" y="36576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9FB6D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資金來源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331720" y="36576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台灣資本市場發債（利率較低）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51560" y="42062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9FB6D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稅盾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331720" y="42062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5%（20% 抵稅 − 15% WHT）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51560" y="47548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9FB6D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真實成本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331720" y="47548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台灣低利率　−　5% 稅盾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46520" y="2880360"/>
            <a:ext cx="4983480" cy="2514600"/>
          </a:xfrm>
          <a:prstGeom prst="roundRect">
            <a:avLst>
              <a:gd name="adj" fmla="val 3273"/>
            </a:avLst>
          </a:prstGeom>
          <a:solidFill>
            <a:srgbClr val="065A82">
              <a:alpha val="7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0" y="31089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方式三　SG 本地銀行借款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766560" y="36576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9FB6D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資金來源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046720" y="36576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新加坡本地銀行（利率可能較高）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766560" y="42062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9FB6D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稅盾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046720" y="42062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20%（17% SG ＋ 3% 台灣補繳）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766560" y="47548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9FB6D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真實成本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046720" y="47548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新加坡高利率　−　20% 稅盾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31520" y="57150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D9A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決策關鍵：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若「新加坡銀行利率 − 台灣發債利率」的利差 &lt; 15%（＝ 20% − 5% 稅盾差），則方式三淨成本較低、較划算；反之則方式一勝。稅盾只是天平的一端。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REAL RATES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5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代入真實利率：借 100 元的稅後成本（同天期）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B36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資金成本（1 個月期，對齊天期）：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B36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台灣 1M TAIBOR 1.6%　vs　新加坡 1M SORA 1.0854%。台灣資金成本反而較高（＋0.51%）。</a:t>
            </a:r>
            <a:endParaRPr lang="en-US" sz="13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822960" y="2148840"/>
          <a:ext cx="667512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955280" y="2240280"/>
            <a:ext cx="3566160" cy="3657600"/>
          </a:xfrm>
          <a:prstGeom prst="roundRect">
            <a:avLst>
              <a:gd name="adj" fmla="val 2308"/>
            </a:avLst>
          </a:prstGeom>
          <a:solidFill>
            <a:srgbClr val="F2F5F8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0" y="24871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5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天期一定要對齊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0" y="2971800"/>
            <a:ext cx="3063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2B36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用同為 1 個月期的利率比較後，方式三最便宜。</a:t>
            </a:r>
            <a:endParaRPr lang="en-US" sz="115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endParaRPr lang="en-US" sz="115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B36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台灣 1M TAIBOR（1.6%）其實高於 1M SORA（1.0854%），台灣並無資金成本優勢。</a:t>
            </a:r>
            <a:endParaRPr lang="en-US" sz="115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endParaRPr lang="en-US" sz="115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B9770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提醒：若誤用台灣「隔夜」0.88% 去比，會得出相反結論。天期不對齊＝比較失真。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40080" y="614476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i="1" dirty="0">
                <a:solidFill>
                  <a:srgbClr val="5B6B7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成本＝利率×(1−淨稅盾)。利率為使用者提供之 1M 值（1M TAIBOR 1.6%、1M compounded SORA 1.0854%）；本地銀行實務另含信用價差，此處以基準利率示意。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總部為新加坡籌資之稅務比較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OPTION 4 — WITH CAUTION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方式四：借款掛台灣＋自有資金撥新加坡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B36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把「借款」與「跨境撥款」脫鉤，同時拿 20% 稅盾又避開 WHT —— 淨稅盾最優，但成敗繫於「經濟實質」。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303520" cy="3703320"/>
          </a:xfrm>
          <a:prstGeom prst="roundRect">
            <a:avLst>
              <a:gd name="adj" fmla="val 2222"/>
            </a:avLst>
          </a:prstGeom>
          <a:solidFill>
            <a:srgbClr val="E3F2EA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3774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7A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構想（形式上成立）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60120" y="2880360"/>
            <a:ext cx="4709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b="1" dirty="0">
                <a:solidFill>
                  <a:srgbClr val="2B36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台灣舉債，用途掛「台灣營運」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B36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利息在台灣抵 20% 稅盾、無跨境 WHT</a:t>
            </a:r>
            <a:endParaRPr lang="en-US" sz="1250" dirty="0"/>
          </a:p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b="1" dirty="0">
                <a:solidFill>
                  <a:srgbClr val="2B36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總部自有 revenue 撥去新加坡當營運金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B36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是自有資金、非借款利息 → 不觸發 WHT</a:t>
            </a:r>
            <a:endParaRPr lang="en-US" sz="1250" dirty="0"/>
          </a:p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endParaRPr lang="en-US" sz="1250" dirty="0"/>
          </a:p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1F7A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淨稅盾 20%、無 WHT、無 EPS 稀釋、免總部信用背書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17920" y="2148840"/>
            <a:ext cx="5303520" cy="3703320"/>
          </a:xfrm>
          <a:prstGeom prst="roundRect">
            <a:avLst>
              <a:gd name="adj" fmla="val 2222"/>
            </a:avLst>
          </a:prstGeom>
          <a:solidFill>
            <a:srgbClr val="FBEFD6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37960" y="23774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9770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風險（實質上的陷阱）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537960" y="2880360"/>
            <a:ext cx="4709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80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B36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因果順序是命門</a:t>
            </a:r>
            <a:endParaRPr lang="en-US" sz="1200" dirty="0"/>
          </a:p>
          <a:p>
            <a:pPr marL="342900" indent="-342900">
              <a:lnSpc>
                <a:spcPct val="1080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B36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若「撥錢→台灣不足→才借款」，會被還原成「借錢支應 SG」。判準：沒撥款的話這筆借款還會發生嗎？</a:t>
            </a:r>
            <a:endParaRPr lang="en-US" sz="1200" dirty="0"/>
          </a:p>
          <a:p>
            <a:pPr marL="342900" indent="-342900">
              <a:lnSpc>
                <a:spcPct val="1080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B36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兩邊稅局各守一關</a:t>
            </a:r>
            <a:endParaRPr lang="en-US" sz="1200" dirty="0"/>
          </a:p>
          <a:p>
            <a:pPr marL="342900" indent="-342900">
              <a:lnSpc>
                <a:spcPct val="1080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B36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台灣查利息扣抵（用途）、SG 查是否變相借款（WHT）。最糟兩邊各打一巴掌。</a:t>
            </a:r>
            <a:endParaRPr lang="en-US" sz="1200" dirty="0"/>
          </a:p>
          <a:p>
            <a:pPr marL="342900" indent="-342900">
              <a:lnSpc>
                <a:spcPct val="1080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B36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合法關鍵 = 真實獨立需求</a:t>
            </a:r>
            <a:endParaRPr lang="en-US" sz="1200" dirty="0"/>
          </a:p>
          <a:p>
            <a:pPr marL="342900" indent="-342900">
              <a:lnSpc>
                <a:spcPct val="1080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B36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兩邊需求須各自存在，不能為避 WHT 硬湊。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總部為新加坡籌資之稅務比較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OPTION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A4A1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方式五：台灣發行可轉債（CB）— 票面 0%、溢價 101%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4475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B36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CB 的賣點不是稅盾（票面 0% 幾無利息費用，稅盾≈0），而是「現金成本最低 ＋ 延後稀釋」。是介於債與股之間的工具。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3474720" cy="1965960"/>
          </a:xfrm>
          <a:prstGeom prst="roundRect">
            <a:avLst>
              <a:gd name="adj" fmla="val 4186"/>
            </a:avLst>
          </a:prstGeom>
          <a:solidFill>
            <a:srgbClr val="E3F2EA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4231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7A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現金成本最低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297180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2B36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票面 0% → 幾乎不付現金利息，現金流負擔最輕。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34256" y="2194560"/>
            <a:ext cx="3474720" cy="1965960"/>
          </a:xfrm>
          <a:prstGeom prst="roundRect">
            <a:avLst>
              <a:gd name="adj" fmla="val 4186"/>
            </a:avLst>
          </a:prstGeom>
          <a:solidFill>
            <a:srgbClr val="E3F2EA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08576" y="24231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7A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溢價募資 101%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608576" y="297180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2B36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以票面 101% 發行，募到比票面更多的錢。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28432" y="2194560"/>
            <a:ext cx="3474720" cy="1965960"/>
          </a:xfrm>
          <a:prstGeom prst="roundRect">
            <a:avLst>
              <a:gd name="adj" fmla="val 4186"/>
            </a:avLst>
          </a:prstGeom>
          <a:solidFill>
            <a:srgbClr val="E1EFF2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02752" y="24231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729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延後稀釋 EPS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302752" y="297180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2B36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轉換前是債、不稀釋；轉換後才變股、才稀釋。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343400"/>
            <a:ext cx="5349240" cy="1600200"/>
          </a:xfrm>
          <a:prstGeom prst="roundRect">
            <a:avLst>
              <a:gd name="adj" fmla="val 5143"/>
            </a:avLst>
          </a:prstGeom>
          <a:solidFill>
            <a:srgbClr val="F2F5F8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4400" y="4526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5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稅盾真相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" y="493776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36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票面 0% → 幾乎沒有利息費用可抵稅 → 稅盾≈0%（保守認定）。與增資一樣不靠稅盾，但現金成本遠低於增資。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172200" y="4343400"/>
            <a:ext cx="5349240" cy="1600200"/>
          </a:xfrm>
          <a:prstGeom prst="roundRect">
            <a:avLst>
              <a:gd name="adj" fmla="val 5143"/>
            </a:avLst>
          </a:prstGeom>
          <a:solidFill>
            <a:srgbClr val="FBEFD6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46520" y="4526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9770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隱藏成本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46520" y="493776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36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0% 票息不是免費 —— 投資人是用「未來轉換成股票的選擇權」換低票息。代價是轉換時稀釋 EPS ＋ 股價上漲的機會成本。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總部為新加坡籌資之稅務比較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THE REAL DECISION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5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真正的決策：總體資金成本 × 風險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B36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稅盾只是成本的一部分。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B36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最終要比的是「實際付出多少（總體資金成本）」與「承擔多少風險（稀釋、逃稅嫌疑、執行）」。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68680" y="2103120"/>
            <a:ext cx="6400800" cy="3703320"/>
          </a:xfrm>
          <a:prstGeom prst="rect">
            <a:avLst/>
          </a:prstGeom>
          <a:solidFill>
            <a:srgbClr val="FAFBFC"/>
          </a:solidFill>
          <a:ln w="12700">
            <a:solidFill>
              <a:srgbClr val="D5DEE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069080" y="2103120"/>
            <a:ext cx="0" cy="3703320"/>
          </a:xfrm>
          <a:prstGeom prst="line">
            <a:avLst/>
          </a:prstGeom>
          <a:noFill/>
          <a:ln w="12700">
            <a:solidFill>
              <a:srgbClr val="D5DEE7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868680" y="3954780"/>
            <a:ext cx="6400800" cy="0"/>
          </a:xfrm>
          <a:prstGeom prst="line">
            <a:avLst/>
          </a:prstGeom>
          <a:noFill/>
          <a:ln w="12700">
            <a:solidFill>
              <a:srgbClr val="D5DEE7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868680" y="58521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B7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總體資金成本 →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58521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低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720840" y="58521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高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 rot="16200000">
            <a:off x="0" y="36804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B7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風 險 →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51663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1F7A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理想區</a:t>
            </a: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1F7A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低成本低風險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0" y="213969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B23A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最該避開</a:t>
            </a:r>
            <a:endParaRPr lang="en-US" sz="900" dirty="0"/>
          </a:p>
          <a:p>
            <a:pPr algn="r"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B23A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高成本高風險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379622" y="3879342"/>
            <a:ext cx="457200" cy="457200"/>
          </a:xfrm>
          <a:prstGeom prst="ellipse">
            <a:avLst/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830982" y="358673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B36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HQ轉貸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741518" y="3052267"/>
            <a:ext cx="457200" cy="457200"/>
          </a:xfrm>
          <a:prstGeom prst="ellipse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92878" y="2759659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B36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② HQ增資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840480" y="4645152"/>
            <a:ext cx="457200" cy="457200"/>
          </a:xfrm>
          <a:prstGeom prst="ellipse">
            <a:avLst/>
          </a:prstGeom>
          <a:solidFill>
            <a:srgbClr val="21295C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291840" y="435254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B36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③ SG銀行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227478" y="2654046"/>
            <a:ext cx="457200" cy="457200"/>
          </a:xfrm>
          <a:prstGeom prst="ellipse">
            <a:avLst/>
          </a:prstGeom>
          <a:solidFill>
            <a:srgbClr val="3E2C6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678838" y="236143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B36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④ 借款台+撥自有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651406" y="3726180"/>
            <a:ext cx="457200" cy="457200"/>
          </a:xfrm>
          <a:prstGeom prst="ellipse">
            <a:avLst/>
          </a:prstGeom>
          <a:solidFill>
            <a:srgbClr val="7A4A1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102766" y="34335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B36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⑤ 台灣CB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635240" y="2103120"/>
            <a:ext cx="3886200" cy="3703320"/>
          </a:xfrm>
          <a:prstGeom prst="roundRect">
            <a:avLst>
              <a:gd name="adj" fmla="val 2222"/>
            </a:avLst>
          </a:prstGeom>
          <a:solidFill>
            <a:srgbClr val="F2F5F8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909560" y="2331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5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怎麼選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909560" y="2743200"/>
            <a:ext cx="33375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1295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③ SG 銀行借款</a:t>
            </a:r>
            <a:endParaRPr lang="en-US" sz="1100" dirty="0"/>
          </a:p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2B36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成本中等、風險最低、結構乾淨 → 最穩健。</a:t>
            </a:r>
            <a:endParaRPr lang="en-US" sz="1100" dirty="0"/>
          </a:p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7A4A1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⑤ 台灣 CB</a:t>
            </a:r>
            <a:endParaRPr lang="en-US" sz="1100" dirty="0"/>
          </a:p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2B36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現金成本最低，代價是未來稀釋 → 重現金流時首選。</a:t>
            </a:r>
            <a:endParaRPr lang="en-US" sz="1100" dirty="0"/>
          </a:p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3E2C6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④ 借款台＋撥自有</a:t>
            </a:r>
            <a:endParaRPr lang="en-US" sz="1100" dirty="0"/>
          </a:p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2B36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成本最低，但逃稅嫌疑風險最高 → 須經濟實質撐住。</a:t>
            </a:r>
            <a:endParaRPr lang="en-US" sz="1100" dirty="0"/>
          </a:p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C729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② HQ 增資</a:t>
            </a:r>
            <a:endParaRPr lang="en-US" sz="1100" dirty="0"/>
          </a:p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2B36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成本最高又稀釋 → 一般最後考慮。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總部為新加坡籌資之稅務比較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TAKEAWAYS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5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四個帶走的重點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627632"/>
            <a:ext cx="822960" cy="822960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62763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828800" y="164592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36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債優於股，但要看 WHT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828800" y="2084832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利息有稅盾、股利沒有；但跨境利息可能被 WHT 侵蝕，必須把 WHT 算進淨稅盾。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770632"/>
            <a:ext cx="822960" cy="82296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277063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828800" y="278892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36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付給誰，決定要不要繳 WHT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828800" y="3227832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利息匯回總部（方式一）觸發 15% WHT；付本地銀行（方式三）無 WHT，淨稅盾達 20%。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3913632"/>
            <a:ext cx="822960" cy="822960"/>
          </a:xfrm>
          <a:prstGeom prst="ellipse">
            <a:avLst/>
          </a:prstGeom>
          <a:solidFill>
            <a:srgbClr val="21295C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391363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828800" y="393192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36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比較要對齊天期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828800" y="4370832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用同為 1 個月期的利率（1M TAIBOR 1.6% vs 1M SORA 1.0854%），方式三最便宜。誤用隔夜利率會得出相反結論。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5056632"/>
            <a:ext cx="822960" cy="822960"/>
          </a:xfrm>
          <a:prstGeom prst="ellipse">
            <a:avLst/>
          </a:prstGeom>
          <a:solidFill>
            <a:srgbClr val="7A4A1E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" y="505663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828800" y="507492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36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終局比的是成本＋風險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828800" y="5513832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稅盾只是成本的一項。最終決策看「總體資金成本 × 風險（稀釋、逃稅嫌疑、執行）」—— CB 成本最低、SG 銀行風險最低、方式四成本低但風險高。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總部為新加坡籌資之稅務比較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NOTES &amp; SOURCES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5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附註與資料來源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8813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B36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計算基礎：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比較表淨稅盾為 rate-level 快速對照。方式一精確版加入 AOA：轉貸利率＝資金成本＋margin（示意 50bps），利息拆四筆 —— ①台灣外部利息抵 20%、②SG 轉貸利息抵 17%、③轉貸利息被 WHT 15%（豁免失敗）、④margin 為總部收入課台灣 20%。借 100 元淨效果：豁免失敗 0.104、成功 0.311。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B36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利率（使用者提供，對齊 1 個月天期）：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台灣 1M TAIBOR 1.6%；新加坡 1M compounded SORA 1.0854%。兩者均為 1 個月期，確保「蘋果對蘋果」。注意：台灣隔夜拆款 0.88% 與 1M TAIBOR 1.6% 為不同天期，不可混用比較。本地銀行放款另含信用價差，簡報以基準利率示意。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B36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方式五 CB（保守認定）：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票面 0%、發行價 101%。票面 0% 幾無利息費用，稅盾≈0%（保守）。實務上若採 IFRS 負債／權益分離與實質利率法，純債部分之擬制利息或有部分可攤銷，惟稅上未必認列，存在財稅差異；本簡報採保守口徑。CB 價值在現金成本最低與延後稀釋，非稅盾。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B36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主要來源：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IRAS — Withholding Tax、s13(4) 部長豁免與 s45AA；PwC Worldwide Tax Summaries — 台灣營所稅 20%、新加坡企業稅 17%；OECD AOA（PE 利潤歸屬）；OECD BEPS 經濟實質。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B36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免責：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本文為內部分析與教育用途，非稅務或法律意見。方式四涉及反避稅判斷、方式五涉及財稅差異，實行前務必經稅務顧問評估。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總部為新加坡籌資之稅務比較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總部為新加坡籌資之稅務比較</dc:title>
  <dc:subject>PptxGenJS Presentation</dc:subject>
  <dc:creator>UMC Finance</dc:creator>
  <cp:lastModifiedBy>UMC Finance</cp:lastModifiedBy>
  <cp:revision>1</cp:revision>
  <dcterms:created xsi:type="dcterms:W3CDTF">2026-06-30T07:43:40Z</dcterms:created>
  <dcterms:modified xsi:type="dcterms:W3CDTF">2026-06-30T07:43:40Z</dcterms:modified>
</cp:coreProperties>
</file>